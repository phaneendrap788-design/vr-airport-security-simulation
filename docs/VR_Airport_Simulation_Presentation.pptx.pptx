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62" r:id="rId4"/>
    <p:sldId id="274" r:id="rId5"/>
    <p:sldId id="263" r:id="rId6"/>
    <p:sldId id="264" r:id="rId7"/>
    <p:sldId id="265" r:id="rId8"/>
    <p:sldId id="266" r:id="rId9"/>
    <p:sldId id="267" r:id="rId10"/>
    <p:sldId id="269" r:id="rId11"/>
    <p:sldId id="270" r:id="rId12"/>
    <p:sldId id="287" r:id="rId13"/>
    <p:sldId id="286" r:id="rId14"/>
    <p:sldId id="288" r:id="rId15"/>
    <p:sldId id="284" r:id="rId16"/>
    <p:sldId id="290" r:id="rId17"/>
    <p:sldId id="26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9418"/>
    <a:srgbClr val="00A651"/>
    <a:srgbClr val="068817"/>
    <a:srgbClr val="007B3B"/>
    <a:srgbClr val="00713A"/>
    <a:srgbClr val="74C427"/>
    <a:srgbClr val="A6C44B"/>
    <a:srgbClr val="8AC4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3" d="100"/>
          <a:sy n="83" d="100"/>
        </p:scale>
        <p:origin x="40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9F0A63-798F-4220-BDF6-4F2A310BE513}" type="datetimeFigureOut">
              <a:rPr lang="en-US" smtClean="0"/>
              <a:t>4/21/2025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21ACC4-E66A-45E9-847A-A5289B8226FE}" type="slidenum">
              <a:rPr lang="en-US" smtClean="0"/>
              <a:t>‹#›</a:t>
            </a:fld>
            <a:endParaRPr lang="en-US"/>
          </a:p>
        </p:txBody>
      </p:sp>
    </p:spTree>
    <p:extLst>
      <p:ext uri="{BB962C8B-B14F-4D97-AF65-F5344CB8AC3E}">
        <p14:creationId xmlns:p14="http://schemas.microsoft.com/office/powerpoint/2010/main" val="3863053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21ACC4-E66A-45E9-847A-A5289B8226FE}" type="slidenum">
              <a:rPr lang="en-US" smtClean="0"/>
              <a:t>13</a:t>
            </a:fld>
            <a:endParaRPr lang="en-US"/>
          </a:p>
        </p:txBody>
      </p:sp>
    </p:spTree>
    <p:extLst>
      <p:ext uri="{BB962C8B-B14F-4D97-AF65-F5344CB8AC3E}">
        <p14:creationId xmlns:p14="http://schemas.microsoft.com/office/powerpoint/2010/main" val="1591952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DB274-ECD9-6844-9790-21A98E226B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71F342-481B-6046-AC35-EAEC748157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B2C935-632D-5245-A926-94951C6CF1AC}"/>
              </a:ext>
            </a:extLst>
          </p:cNvPr>
          <p:cNvSpPr>
            <a:spLocks noGrp="1"/>
          </p:cNvSpPr>
          <p:nvPr>
            <p:ph type="dt" sz="half" idx="10"/>
          </p:nvPr>
        </p:nvSpPr>
        <p:spPr/>
        <p:txBody>
          <a:bodyPr/>
          <a:lstStyle/>
          <a:p>
            <a:fld id="{3A7DEE86-343E-4E52-A9F2-5D2AFC375F8E}" type="datetime1">
              <a:rPr lang="en-US" smtClean="0"/>
              <a:t>4/21/2025</a:t>
            </a:fld>
            <a:endParaRPr lang="en-US"/>
          </a:p>
        </p:txBody>
      </p:sp>
      <p:sp>
        <p:nvSpPr>
          <p:cNvPr id="5" name="Footer Placeholder 4">
            <a:extLst>
              <a:ext uri="{FF2B5EF4-FFF2-40B4-BE49-F238E27FC236}">
                <a16:creationId xmlns:a16="http://schemas.microsoft.com/office/drawing/2014/main" id="{DEFE5520-4DEB-FD4B-9F22-EB7C51525F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8256D7-680F-CB4B-B10E-1D6FFA76A373}"/>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353650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C353-9FBE-5141-8529-377FCB0DA5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D30843-08AB-CC45-97F8-99A8E27BA12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E64518-F3DB-A744-B69B-BF882A572A17}"/>
              </a:ext>
            </a:extLst>
          </p:cNvPr>
          <p:cNvSpPr>
            <a:spLocks noGrp="1"/>
          </p:cNvSpPr>
          <p:nvPr>
            <p:ph type="dt" sz="half" idx="10"/>
          </p:nvPr>
        </p:nvSpPr>
        <p:spPr/>
        <p:txBody>
          <a:bodyPr/>
          <a:lstStyle/>
          <a:p>
            <a:fld id="{B30C5F76-5E10-4AEF-869E-0247C6F0D1CC}" type="datetime1">
              <a:rPr lang="en-US" smtClean="0"/>
              <a:t>4/21/2025</a:t>
            </a:fld>
            <a:endParaRPr lang="en-US"/>
          </a:p>
        </p:txBody>
      </p:sp>
      <p:sp>
        <p:nvSpPr>
          <p:cNvPr id="5" name="Footer Placeholder 4">
            <a:extLst>
              <a:ext uri="{FF2B5EF4-FFF2-40B4-BE49-F238E27FC236}">
                <a16:creationId xmlns:a16="http://schemas.microsoft.com/office/drawing/2014/main" id="{0DFA3B07-70E9-4A47-97A0-383E69C07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5EBA83-4E92-6144-A2C2-531FEF5981F2}"/>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271630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DF050-A008-D041-8679-9B7B4AD0D0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7D1FC5-B68F-274C-BB41-EE6FC34654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6407DBC-D1BC-924F-AB42-F07F6E6CFC79}"/>
              </a:ext>
            </a:extLst>
          </p:cNvPr>
          <p:cNvSpPr>
            <a:spLocks noGrp="1"/>
          </p:cNvSpPr>
          <p:nvPr>
            <p:ph type="dt" sz="half" idx="10"/>
          </p:nvPr>
        </p:nvSpPr>
        <p:spPr/>
        <p:txBody>
          <a:bodyPr/>
          <a:lstStyle/>
          <a:p>
            <a:fld id="{6257F169-01A6-4B1E-A47F-4A7155CB8565}" type="datetime1">
              <a:rPr lang="en-US" smtClean="0"/>
              <a:t>4/21/2025</a:t>
            </a:fld>
            <a:endParaRPr lang="en-US"/>
          </a:p>
        </p:txBody>
      </p:sp>
      <p:sp>
        <p:nvSpPr>
          <p:cNvPr id="5" name="Footer Placeholder 4">
            <a:extLst>
              <a:ext uri="{FF2B5EF4-FFF2-40B4-BE49-F238E27FC236}">
                <a16:creationId xmlns:a16="http://schemas.microsoft.com/office/drawing/2014/main" id="{29F9AC5E-374F-1045-8258-855EA19F15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85D3C0-ECB7-4049-B237-A50B432E0FED}"/>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759235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A6DFC-FC76-AA41-A84C-F496755B56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AD9D3A-21F0-4E40-8FC1-D9528CD437C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B1EB2C-1ECD-F74F-82EE-AE5338B309F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DE6951-1B67-AD49-8D4D-58FF99B60470}"/>
              </a:ext>
            </a:extLst>
          </p:cNvPr>
          <p:cNvSpPr>
            <a:spLocks noGrp="1"/>
          </p:cNvSpPr>
          <p:nvPr>
            <p:ph type="dt" sz="half" idx="10"/>
          </p:nvPr>
        </p:nvSpPr>
        <p:spPr/>
        <p:txBody>
          <a:bodyPr/>
          <a:lstStyle/>
          <a:p>
            <a:fld id="{84C5E048-CB7C-4B00-84F5-39B102FE9781}" type="datetime1">
              <a:rPr lang="en-US" smtClean="0"/>
              <a:t>4/21/2025</a:t>
            </a:fld>
            <a:endParaRPr lang="en-US"/>
          </a:p>
        </p:txBody>
      </p:sp>
      <p:sp>
        <p:nvSpPr>
          <p:cNvPr id="6" name="Footer Placeholder 5">
            <a:extLst>
              <a:ext uri="{FF2B5EF4-FFF2-40B4-BE49-F238E27FC236}">
                <a16:creationId xmlns:a16="http://schemas.microsoft.com/office/drawing/2014/main" id="{3563D3E7-3115-F249-8615-5BB380A36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538C44-679D-054B-A50A-A5F49A6CCFA6}"/>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2220618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D8597-00D1-9C45-A992-045A3BCF3F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D7F22F-BAD6-CA47-956E-3FEB21FD8C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FF811C0-F7D6-D04A-8F95-C9184FC81A4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E68642-809B-9844-B0DC-46C9DDE0D5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F5D80E5-D2D5-4947-934C-B181284E3B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13D0AF-54FC-304C-8CDD-8D6A25A1A156}"/>
              </a:ext>
            </a:extLst>
          </p:cNvPr>
          <p:cNvSpPr>
            <a:spLocks noGrp="1"/>
          </p:cNvSpPr>
          <p:nvPr>
            <p:ph type="dt" sz="half" idx="10"/>
          </p:nvPr>
        </p:nvSpPr>
        <p:spPr/>
        <p:txBody>
          <a:bodyPr/>
          <a:lstStyle/>
          <a:p>
            <a:fld id="{5F5A94CA-0C3F-4F76-B54A-E9C7F5256EFE}" type="datetime1">
              <a:rPr lang="en-US" smtClean="0"/>
              <a:t>4/21/2025</a:t>
            </a:fld>
            <a:endParaRPr lang="en-US"/>
          </a:p>
        </p:txBody>
      </p:sp>
      <p:sp>
        <p:nvSpPr>
          <p:cNvPr id="8" name="Footer Placeholder 7">
            <a:extLst>
              <a:ext uri="{FF2B5EF4-FFF2-40B4-BE49-F238E27FC236}">
                <a16:creationId xmlns:a16="http://schemas.microsoft.com/office/drawing/2014/main" id="{FF9F3680-FC12-0948-B162-CF43770055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F586D9-BFB2-DB4B-B83A-08B319119852}"/>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2980404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16FD0-4A21-B64D-8605-6DFE78A653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34D0E3-11DA-8245-88F0-87AC3D4CDA79}"/>
              </a:ext>
            </a:extLst>
          </p:cNvPr>
          <p:cNvSpPr>
            <a:spLocks noGrp="1"/>
          </p:cNvSpPr>
          <p:nvPr>
            <p:ph type="dt" sz="half" idx="10"/>
          </p:nvPr>
        </p:nvSpPr>
        <p:spPr/>
        <p:txBody>
          <a:bodyPr/>
          <a:lstStyle/>
          <a:p>
            <a:fld id="{CD742E04-E4B5-4DFB-A5EF-8521A604DB1B}" type="datetime1">
              <a:rPr lang="en-US" smtClean="0"/>
              <a:t>4/21/2025</a:t>
            </a:fld>
            <a:endParaRPr lang="en-US"/>
          </a:p>
        </p:txBody>
      </p:sp>
      <p:sp>
        <p:nvSpPr>
          <p:cNvPr id="4" name="Footer Placeholder 3">
            <a:extLst>
              <a:ext uri="{FF2B5EF4-FFF2-40B4-BE49-F238E27FC236}">
                <a16:creationId xmlns:a16="http://schemas.microsoft.com/office/drawing/2014/main" id="{E7F587B2-78B8-D540-ADCF-B3B99F7E52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52A16A-DDA8-124B-9300-37B5CE13AC1C}"/>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124108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E55749-D3F6-5B40-B60A-AD6835E75C79}"/>
              </a:ext>
            </a:extLst>
          </p:cNvPr>
          <p:cNvSpPr>
            <a:spLocks noGrp="1"/>
          </p:cNvSpPr>
          <p:nvPr>
            <p:ph type="dt" sz="half" idx="10"/>
          </p:nvPr>
        </p:nvSpPr>
        <p:spPr/>
        <p:txBody>
          <a:bodyPr/>
          <a:lstStyle/>
          <a:p>
            <a:fld id="{1203E67E-64DB-4E54-A06D-62800F9BC7D1}" type="datetime1">
              <a:rPr lang="en-US" smtClean="0"/>
              <a:t>4/21/2025</a:t>
            </a:fld>
            <a:endParaRPr lang="en-US"/>
          </a:p>
        </p:txBody>
      </p:sp>
      <p:sp>
        <p:nvSpPr>
          <p:cNvPr id="3" name="Footer Placeholder 2">
            <a:extLst>
              <a:ext uri="{FF2B5EF4-FFF2-40B4-BE49-F238E27FC236}">
                <a16:creationId xmlns:a16="http://schemas.microsoft.com/office/drawing/2014/main" id="{74328217-89D3-A345-901C-432A3E87EC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DD66D9-C338-AE44-BBDD-60CB783A1D72}"/>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3584648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EF945-51BE-8E41-A001-8556328E04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D31D16-F809-694B-8A56-EE18EDD3D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6FB139-7CE6-4D46-9C0F-158A6D60CC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A1B1C3C-1F82-DD4C-AC61-765315FA2AEC}"/>
              </a:ext>
            </a:extLst>
          </p:cNvPr>
          <p:cNvSpPr>
            <a:spLocks noGrp="1"/>
          </p:cNvSpPr>
          <p:nvPr>
            <p:ph type="dt" sz="half" idx="10"/>
          </p:nvPr>
        </p:nvSpPr>
        <p:spPr/>
        <p:txBody>
          <a:bodyPr/>
          <a:lstStyle/>
          <a:p>
            <a:fld id="{E7729154-5495-40C2-8C85-6AB210CA44DA}" type="datetime1">
              <a:rPr lang="en-US" smtClean="0"/>
              <a:t>4/21/2025</a:t>
            </a:fld>
            <a:endParaRPr lang="en-US"/>
          </a:p>
        </p:txBody>
      </p:sp>
      <p:sp>
        <p:nvSpPr>
          <p:cNvPr id="6" name="Footer Placeholder 5">
            <a:extLst>
              <a:ext uri="{FF2B5EF4-FFF2-40B4-BE49-F238E27FC236}">
                <a16:creationId xmlns:a16="http://schemas.microsoft.com/office/drawing/2014/main" id="{E3865035-F317-3C4F-BE6B-DBA53E9FFB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6CEF8A-E308-904B-8554-2B093BAF3C44}"/>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3870906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1AD82-5A17-3442-A391-EAC94984A3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951955-18A8-AC41-94B9-B2603FDF8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884506-8CF4-5B4E-B0B3-3B52DDCB0D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ED8C3ED-FF8B-274F-9D47-0425A93E8797}"/>
              </a:ext>
            </a:extLst>
          </p:cNvPr>
          <p:cNvSpPr>
            <a:spLocks noGrp="1"/>
          </p:cNvSpPr>
          <p:nvPr>
            <p:ph type="dt" sz="half" idx="10"/>
          </p:nvPr>
        </p:nvSpPr>
        <p:spPr/>
        <p:txBody>
          <a:bodyPr/>
          <a:lstStyle/>
          <a:p>
            <a:fld id="{42467C89-03EF-4D28-9729-C96E9EEC51ED}" type="datetime1">
              <a:rPr lang="en-US" smtClean="0"/>
              <a:t>4/21/2025</a:t>
            </a:fld>
            <a:endParaRPr lang="en-US"/>
          </a:p>
        </p:txBody>
      </p:sp>
      <p:sp>
        <p:nvSpPr>
          <p:cNvPr id="6" name="Footer Placeholder 5">
            <a:extLst>
              <a:ext uri="{FF2B5EF4-FFF2-40B4-BE49-F238E27FC236}">
                <a16:creationId xmlns:a16="http://schemas.microsoft.com/office/drawing/2014/main" id="{5CF9DCA7-07CA-7B42-989B-53A2AA2655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3F7C12-4324-B949-8183-E9B72EA48744}"/>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1281941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1FA28-CC45-F14D-ADC5-88A589FABF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1DB90E-8EE2-7442-BE25-64F438EED98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90B67D-8C42-0146-A757-97FBF60C0D1E}"/>
              </a:ext>
            </a:extLst>
          </p:cNvPr>
          <p:cNvSpPr>
            <a:spLocks noGrp="1"/>
          </p:cNvSpPr>
          <p:nvPr>
            <p:ph type="dt" sz="half" idx="10"/>
          </p:nvPr>
        </p:nvSpPr>
        <p:spPr/>
        <p:txBody>
          <a:bodyPr/>
          <a:lstStyle/>
          <a:p>
            <a:fld id="{FDEFCB42-DC1C-4C4F-8BF5-58C19F445211}" type="datetime1">
              <a:rPr lang="en-US" smtClean="0"/>
              <a:t>4/21/2025</a:t>
            </a:fld>
            <a:endParaRPr lang="en-US"/>
          </a:p>
        </p:txBody>
      </p:sp>
      <p:sp>
        <p:nvSpPr>
          <p:cNvPr id="5" name="Footer Placeholder 4">
            <a:extLst>
              <a:ext uri="{FF2B5EF4-FFF2-40B4-BE49-F238E27FC236}">
                <a16:creationId xmlns:a16="http://schemas.microsoft.com/office/drawing/2014/main" id="{D18E126A-6778-D041-A7E0-9E73492BF2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B0A5F1-74BE-7F4C-BAE9-5E0A21738CEA}"/>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2776973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230DE2-B4E8-9542-A63A-021B233376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5F23E2-9DA6-7745-8D21-1B636935695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8D683C-E1FF-4F43-8D98-C271E6D7395A}"/>
              </a:ext>
            </a:extLst>
          </p:cNvPr>
          <p:cNvSpPr>
            <a:spLocks noGrp="1"/>
          </p:cNvSpPr>
          <p:nvPr>
            <p:ph type="dt" sz="half" idx="10"/>
          </p:nvPr>
        </p:nvSpPr>
        <p:spPr/>
        <p:txBody>
          <a:bodyPr/>
          <a:lstStyle/>
          <a:p>
            <a:fld id="{77B87E0D-AFDA-459C-902A-77C930534CBF}" type="datetime1">
              <a:rPr lang="en-US" smtClean="0"/>
              <a:t>4/21/2025</a:t>
            </a:fld>
            <a:endParaRPr lang="en-US"/>
          </a:p>
        </p:txBody>
      </p:sp>
      <p:sp>
        <p:nvSpPr>
          <p:cNvPr id="5" name="Footer Placeholder 4">
            <a:extLst>
              <a:ext uri="{FF2B5EF4-FFF2-40B4-BE49-F238E27FC236}">
                <a16:creationId xmlns:a16="http://schemas.microsoft.com/office/drawing/2014/main" id="{F640DC9B-8287-2E43-BFC8-208D4D3CB8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2AD24-758C-044A-BF6A-2B1330BB7B59}"/>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4024095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9732FA-7F9B-6447-A218-D2AAD07F08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FBFB8C-7133-5948-A11E-0C2B393FA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88C691-56B7-4549-B5F1-C735DF3E2A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B92BCB-8B05-4411-A8CB-9FBE5DB08B39}" type="datetime1">
              <a:rPr lang="en-US" smtClean="0"/>
              <a:t>4/21/2025</a:t>
            </a:fld>
            <a:endParaRPr lang="en-US"/>
          </a:p>
        </p:txBody>
      </p:sp>
      <p:sp>
        <p:nvSpPr>
          <p:cNvPr id="5" name="Footer Placeholder 4">
            <a:extLst>
              <a:ext uri="{FF2B5EF4-FFF2-40B4-BE49-F238E27FC236}">
                <a16:creationId xmlns:a16="http://schemas.microsoft.com/office/drawing/2014/main" id="{340FC477-BFEF-6A40-8A64-F22652C6F8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C3B950F-F683-5649-A761-C180536A30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60F34E-4A79-A240-AEA8-3E29BB228B1B}" type="slidenum">
              <a:rPr lang="en-US" smtClean="0"/>
              <a:t>‹#›</a:t>
            </a:fld>
            <a:endParaRPr lang="en-US"/>
          </a:p>
        </p:txBody>
      </p:sp>
    </p:spTree>
    <p:extLst>
      <p:ext uri="{BB962C8B-B14F-4D97-AF65-F5344CB8AC3E}">
        <p14:creationId xmlns:p14="http://schemas.microsoft.com/office/powerpoint/2010/main" val="789863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arxiv.org/abs/2502.09804" TargetMode="External"/><Relationship Id="rId3" Type="http://schemas.openxmlformats.org/officeDocument/2006/relationships/image" Target="../media/image4.emf"/><Relationship Id="rId7" Type="http://schemas.openxmlformats.org/officeDocument/2006/relationships/hyperlink" Target="https://doi.org/10.1155/2022/2384830" TargetMode="External"/><Relationship Id="rId2" Type="http://schemas.openxmlformats.org/officeDocument/2006/relationships/image" Target="../media/image3.emf"/><Relationship Id="rId1" Type="http://schemas.openxmlformats.org/officeDocument/2006/relationships/slideLayout" Target="../slideLayouts/slideLayout2.xml"/><Relationship Id="rId6" Type="http://schemas.openxmlformats.org/officeDocument/2006/relationships/hyperlink" Target="https://doi.org/10.1109/ICCECE58615.2024.10476519" TargetMode="External"/><Relationship Id="rId11" Type="http://schemas.openxmlformats.org/officeDocument/2006/relationships/hyperlink" Target="https://doi.org/10.1145/3578741.3578770" TargetMode="External"/><Relationship Id="rId5" Type="http://schemas.openxmlformats.org/officeDocument/2006/relationships/hyperlink" Target="https://doi.org/10.1016/j.imu.2019.100231" TargetMode="External"/><Relationship Id="rId10" Type="http://schemas.openxmlformats.org/officeDocument/2006/relationships/hyperlink" Target="https://doi.org/10.1016/j.asoc.2024.110331" TargetMode="External"/><Relationship Id="rId4" Type="http://schemas.openxmlformats.org/officeDocument/2006/relationships/hyperlink" Target="https://arxiv.org/abs/2410.05272" TargetMode="External"/><Relationship Id="rId9" Type="http://schemas.openxmlformats.org/officeDocument/2006/relationships/hyperlink" Target="https://arxiv.org/abs/2410.14536"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D3AACC9-6128-D644-BB32-5E823AB3C0A4}"/>
              </a:ext>
            </a:extLst>
          </p:cNvPr>
          <p:cNvPicPr>
            <a:picLocks noChangeAspect="1"/>
          </p:cNvPicPr>
          <p:nvPr/>
        </p:nvPicPr>
        <p:blipFill>
          <a:blip r:embed="rId2"/>
          <a:stretch>
            <a:fillRect/>
          </a:stretch>
        </p:blipFill>
        <p:spPr>
          <a:xfrm>
            <a:off x="4357445" y="1982512"/>
            <a:ext cx="3092980" cy="1037280"/>
          </a:xfrm>
          <a:prstGeom prst="rect">
            <a:avLst/>
          </a:prstGeom>
        </p:spPr>
      </p:pic>
      <p:sp>
        <p:nvSpPr>
          <p:cNvPr id="9" name="Rectangle 8">
            <a:extLst>
              <a:ext uri="{FF2B5EF4-FFF2-40B4-BE49-F238E27FC236}">
                <a16:creationId xmlns:a16="http://schemas.microsoft.com/office/drawing/2014/main" id="{E850BB8E-98B9-0443-9518-BB0B496E8AF5}"/>
              </a:ext>
            </a:extLst>
          </p:cNvPr>
          <p:cNvSpPr/>
          <p:nvPr/>
        </p:nvSpPr>
        <p:spPr>
          <a:xfrm>
            <a:off x="0" y="0"/>
            <a:ext cx="12192000" cy="5866726"/>
          </a:xfrm>
          <a:prstGeom prst="rect">
            <a:avLst/>
          </a:prstGeom>
          <a:gradFill flip="none" rotWithShape="1">
            <a:gsLst>
              <a:gs pos="0">
                <a:srgbClr val="00A44E"/>
              </a:gs>
              <a:gs pos="100000">
                <a:srgbClr val="004A24"/>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ubtitle 2">
            <a:extLst>
              <a:ext uri="{FF2B5EF4-FFF2-40B4-BE49-F238E27FC236}">
                <a16:creationId xmlns:a16="http://schemas.microsoft.com/office/drawing/2014/main" id="{9F5A9FDE-E9C9-EC40-9ACD-E0B75041F0CA}"/>
              </a:ext>
            </a:extLst>
          </p:cNvPr>
          <p:cNvSpPr>
            <a:spLocks noGrp="1"/>
          </p:cNvSpPr>
          <p:nvPr>
            <p:ph type="subTitle" idx="1"/>
          </p:nvPr>
        </p:nvSpPr>
        <p:spPr>
          <a:xfrm>
            <a:off x="3571187" y="3936583"/>
            <a:ext cx="5039413" cy="1291025"/>
          </a:xfrm>
        </p:spPr>
        <p:txBody>
          <a:bodyPr>
            <a:normAutofit fontScale="55000" lnSpcReduction="20000"/>
          </a:bodyPr>
          <a:lstStyle/>
          <a:p>
            <a:pPr>
              <a:spcBef>
                <a:spcPts val="1600"/>
              </a:spcBef>
            </a:pPr>
            <a:r>
              <a:rPr lang="en-US" sz="2000" dirty="0">
                <a:solidFill>
                  <a:schemeClr val="bg1"/>
                </a:solidFill>
              </a:rPr>
              <a:t>AISWARYA GORIPARTHI</a:t>
            </a:r>
          </a:p>
          <a:p>
            <a:pPr>
              <a:spcBef>
                <a:spcPts val="1600"/>
              </a:spcBef>
            </a:pPr>
            <a:r>
              <a:rPr lang="en-US" sz="2000" dirty="0">
                <a:solidFill>
                  <a:schemeClr val="bg1"/>
                </a:solidFill>
              </a:rPr>
              <a:t>VIJAY VENKATRAO GOPARAJU</a:t>
            </a:r>
          </a:p>
          <a:p>
            <a:pPr>
              <a:spcBef>
                <a:spcPts val="1600"/>
              </a:spcBef>
            </a:pPr>
            <a:r>
              <a:rPr lang="en-US" sz="2000" dirty="0">
                <a:solidFill>
                  <a:schemeClr val="bg1"/>
                </a:solidFill>
              </a:rPr>
              <a:t>BALA PHANEENDRA POTHURI </a:t>
            </a:r>
          </a:p>
          <a:p>
            <a:pPr>
              <a:spcBef>
                <a:spcPts val="1600"/>
              </a:spcBef>
            </a:pPr>
            <a:r>
              <a:rPr lang="en-US" sz="2000" dirty="0">
                <a:solidFill>
                  <a:schemeClr val="bg1"/>
                </a:solidFill>
              </a:rPr>
              <a:t>Group 6</a:t>
            </a:r>
            <a:endParaRPr lang="en-US" sz="2000" b="1" dirty="0">
              <a:solidFill>
                <a:schemeClr val="bg1"/>
              </a:solidFill>
              <a:latin typeface="+mj-lt"/>
            </a:endParaRPr>
          </a:p>
          <a:p>
            <a:pPr>
              <a:spcBef>
                <a:spcPts val="0"/>
              </a:spcBef>
            </a:pPr>
            <a:r>
              <a:rPr lang="en-US" sz="1400" dirty="0">
                <a:solidFill>
                  <a:schemeClr val="bg1"/>
                </a:solidFill>
                <a:latin typeface="+mj-lt"/>
              </a:rPr>
              <a:t>INFO 5082</a:t>
            </a:r>
          </a:p>
          <a:p>
            <a:pPr>
              <a:spcBef>
                <a:spcPts val="0"/>
              </a:spcBef>
            </a:pPr>
            <a:endParaRPr lang="en-US" sz="1400" dirty="0">
              <a:solidFill>
                <a:schemeClr val="bg1"/>
              </a:solidFill>
              <a:latin typeface="+mj-lt"/>
            </a:endParaRPr>
          </a:p>
        </p:txBody>
      </p:sp>
      <p:pic>
        <p:nvPicPr>
          <p:cNvPr id="2" name="Picture 1">
            <a:extLst>
              <a:ext uri="{FF2B5EF4-FFF2-40B4-BE49-F238E27FC236}">
                <a16:creationId xmlns:a16="http://schemas.microsoft.com/office/drawing/2014/main" id="{C04D1D62-CFD6-D946-AAA1-A9E54335DC98}"/>
              </a:ext>
            </a:extLst>
          </p:cNvPr>
          <p:cNvPicPr>
            <a:picLocks noChangeAspect="1"/>
          </p:cNvPicPr>
          <p:nvPr/>
        </p:nvPicPr>
        <p:blipFill>
          <a:blip r:embed="rId3"/>
          <a:stretch>
            <a:fillRect/>
          </a:stretch>
        </p:blipFill>
        <p:spPr>
          <a:xfrm>
            <a:off x="4596453" y="772134"/>
            <a:ext cx="2999092" cy="2999092"/>
          </a:xfrm>
          <a:prstGeom prst="rect">
            <a:avLst/>
          </a:prstGeom>
        </p:spPr>
      </p:pic>
      <p:sp>
        <p:nvSpPr>
          <p:cNvPr id="3" name="Slide Number Placeholder 2">
            <a:extLst>
              <a:ext uri="{FF2B5EF4-FFF2-40B4-BE49-F238E27FC236}">
                <a16:creationId xmlns:a16="http://schemas.microsoft.com/office/drawing/2014/main" id="{A7150409-2749-4E4A-AEA0-DAA2D0507C4D}"/>
              </a:ext>
            </a:extLst>
          </p:cNvPr>
          <p:cNvSpPr>
            <a:spLocks noGrp="1"/>
          </p:cNvSpPr>
          <p:nvPr>
            <p:ph type="sldNum" sz="quarter" idx="12"/>
          </p:nvPr>
        </p:nvSpPr>
        <p:spPr/>
        <p:txBody>
          <a:bodyPr/>
          <a:lstStyle/>
          <a:p>
            <a:fld id="{F860F34E-4A79-A240-AEA8-3E29BB228B1B}" type="slidenum">
              <a:rPr lang="en-US" smtClean="0"/>
              <a:t>1</a:t>
            </a:fld>
            <a:endParaRPr lang="en-US"/>
          </a:p>
        </p:txBody>
      </p:sp>
    </p:spTree>
    <p:extLst>
      <p:ext uri="{BB962C8B-B14F-4D97-AF65-F5344CB8AC3E}">
        <p14:creationId xmlns:p14="http://schemas.microsoft.com/office/powerpoint/2010/main" val="3088161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8F09505-16A9-5F40-9BAF-3E022D3C2EAB}"/>
              </a:ext>
            </a:extLst>
          </p:cNvPr>
          <p:cNvSpPr/>
          <p:nvPr/>
        </p:nvSpPr>
        <p:spPr>
          <a:xfrm>
            <a:off x="0" y="1513211"/>
            <a:ext cx="12192000" cy="4005558"/>
          </a:xfrm>
          <a:prstGeom prst="rect">
            <a:avLst/>
          </a:prstGeom>
          <a:gradFill flip="none" rotWithShape="1">
            <a:gsLst>
              <a:gs pos="0">
                <a:srgbClr val="00A44E"/>
              </a:gs>
              <a:gs pos="100000">
                <a:srgbClr val="004A24"/>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5DB1086-1365-B942-BFE2-A2552509A3D9}"/>
              </a:ext>
            </a:extLst>
          </p:cNvPr>
          <p:cNvSpPr>
            <a:spLocks noGrp="1"/>
          </p:cNvSpPr>
          <p:nvPr>
            <p:ph idx="1"/>
          </p:nvPr>
        </p:nvSpPr>
        <p:spPr>
          <a:xfrm>
            <a:off x="947756" y="2172455"/>
            <a:ext cx="10252346" cy="3033472"/>
          </a:xfrm>
        </p:spPr>
        <p:txBody>
          <a:bodyPr vert="horz" lIns="91440" tIns="45720" rIns="91440" bIns="45720" rtlCol="0" anchor="t">
            <a:normAutofit/>
          </a:bodyPr>
          <a:lstStyle/>
          <a:p>
            <a:pPr marL="0" indent="0" algn="ctr">
              <a:lnSpc>
                <a:spcPct val="100000"/>
              </a:lnSpc>
              <a:spcBef>
                <a:spcPts val="1600"/>
              </a:spcBef>
              <a:buNone/>
            </a:pPr>
            <a:r>
              <a:rPr lang="en-US" dirty="0">
                <a:solidFill>
                  <a:schemeClr val="bg1"/>
                </a:solidFill>
                <a:latin typeface="Times New Roman"/>
                <a:ea typeface="+mn-lt"/>
                <a:cs typeface="+mn-lt"/>
              </a:rPr>
              <a:t>Blood Cell Cancer Classification: Deep Learning Model Performance</a:t>
            </a:r>
          </a:p>
          <a:p>
            <a:pPr marL="0" indent="0" algn="ctr">
              <a:lnSpc>
                <a:spcPct val="100000"/>
              </a:lnSpc>
              <a:spcBef>
                <a:spcPts val="1600"/>
              </a:spcBef>
              <a:buNone/>
            </a:pPr>
            <a:endParaRPr lang="en-US" sz="1500" dirty="0">
              <a:solidFill>
                <a:schemeClr val="bg1"/>
              </a:solidFill>
              <a:latin typeface="Times New Roman"/>
              <a:ea typeface="+mn-lt"/>
              <a:cs typeface="+mn-lt"/>
            </a:endParaRPr>
          </a:p>
          <a:p>
            <a:pPr marL="0" indent="0" algn="ctr">
              <a:lnSpc>
                <a:spcPct val="100000"/>
              </a:lnSpc>
              <a:spcBef>
                <a:spcPts val="1600"/>
              </a:spcBef>
              <a:buNone/>
            </a:pPr>
            <a:endParaRPr lang="en-US" sz="1100" dirty="0"/>
          </a:p>
          <a:p>
            <a:pPr marL="0" indent="0" algn="ctr">
              <a:lnSpc>
                <a:spcPct val="100000"/>
              </a:lnSpc>
              <a:spcBef>
                <a:spcPts val="1600"/>
              </a:spcBef>
              <a:buNone/>
            </a:pPr>
            <a:r>
              <a:rPr lang="en-US" sz="1600" dirty="0">
                <a:latin typeface="Times New Roman" panose="02020603050405020304" pitchFamily="18" charset="0"/>
                <a:cs typeface="Times New Roman" panose="02020603050405020304" pitchFamily="18" charset="0"/>
              </a:rPr>
              <a:t>This project compares multiple deep learning architectures for classifying blood cell cancer types using microscopic images. Models like CNNs, Vision Transformers, and ensembles were evaluated on accuracy, precision, recall, and AUC-ROC. The analysis identifies the most effective models for supporting automated cancer diagnosis.</a:t>
            </a:r>
            <a:endParaRPr lang="en-US" sz="1600" dirty="0">
              <a:latin typeface="Times New Roman" panose="02020603050405020304" pitchFamily="18" charset="0"/>
              <a:ea typeface="+mn-lt"/>
              <a:cs typeface="Times New Roman" panose="02020603050405020304" pitchFamily="18" charset="0"/>
            </a:endParaRPr>
          </a:p>
        </p:txBody>
      </p:sp>
      <p:pic>
        <p:nvPicPr>
          <p:cNvPr id="7" name="Picture 6">
            <a:extLst>
              <a:ext uri="{FF2B5EF4-FFF2-40B4-BE49-F238E27FC236}">
                <a16:creationId xmlns:a16="http://schemas.microsoft.com/office/drawing/2014/main" id="{DFFC1D17-55AD-6C45-BF39-A59E65E2791E}"/>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0" name="Picture 9">
            <a:extLst>
              <a:ext uri="{FF2B5EF4-FFF2-40B4-BE49-F238E27FC236}">
                <a16:creationId xmlns:a16="http://schemas.microsoft.com/office/drawing/2014/main" id="{89B29CF7-7FFE-834F-A256-BC3C11FAF001}"/>
              </a:ext>
            </a:extLst>
          </p:cNvPr>
          <p:cNvPicPr>
            <a:picLocks noChangeAspect="1"/>
          </p:cNvPicPr>
          <p:nvPr/>
        </p:nvPicPr>
        <p:blipFill>
          <a:blip r:embed="rId3"/>
          <a:stretch>
            <a:fillRect/>
          </a:stretch>
        </p:blipFill>
        <p:spPr>
          <a:xfrm>
            <a:off x="231962" y="6016749"/>
            <a:ext cx="1599045" cy="685305"/>
          </a:xfrm>
          <a:prstGeom prst="rect">
            <a:avLst/>
          </a:prstGeom>
        </p:spPr>
      </p:pic>
      <p:sp>
        <p:nvSpPr>
          <p:cNvPr id="2" name="Slide Number Placeholder 1">
            <a:extLst>
              <a:ext uri="{FF2B5EF4-FFF2-40B4-BE49-F238E27FC236}">
                <a16:creationId xmlns:a16="http://schemas.microsoft.com/office/drawing/2014/main" id="{FE692014-46C0-4B98-BCEF-92C154242C2E}"/>
              </a:ext>
            </a:extLst>
          </p:cNvPr>
          <p:cNvSpPr>
            <a:spLocks noGrp="1"/>
          </p:cNvSpPr>
          <p:nvPr>
            <p:ph type="sldNum" sz="quarter" idx="12"/>
          </p:nvPr>
        </p:nvSpPr>
        <p:spPr/>
        <p:txBody>
          <a:bodyPr/>
          <a:lstStyle/>
          <a:p>
            <a:fld id="{F860F34E-4A79-A240-AEA8-3E29BB228B1B}" type="slidenum">
              <a:rPr lang="en-US" smtClean="0"/>
              <a:t>2</a:t>
            </a:fld>
            <a:endParaRPr lang="en-US"/>
          </a:p>
        </p:txBody>
      </p:sp>
    </p:spTree>
    <p:extLst>
      <p:ext uri="{BB962C8B-B14F-4D97-AF65-F5344CB8AC3E}">
        <p14:creationId xmlns:p14="http://schemas.microsoft.com/office/powerpoint/2010/main" val="1278755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DB1086-1365-B942-BFE2-A2552509A3D9}"/>
              </a:ext>
            </a:extLst>
          </p:cNvPr>
          <p:cNvSpPr>
            <a:spLocks noGrp="1"/>
          </p:cNvSpPr>
          <p:nvPr>
            <p:ph idx="1"/>
          </p:nvPr>
        </p:nvSpPr>
        <p:spPr>
          <a:xfrm>
            <a:off x="573189" y="1227952"/>
            <a:ext cx="10677965" cy="4402095"/>
          </a:xfrm>
        </p:spPr>
        <p:txBody>
          <a:bodyPr>
            <a:normAutofit/>
          </a:bodyPr>
          <a:lstStyle/>
          <a:p>
            <a:pPr algn="l">
              <a:buFont typeface="+mj-lt"/>
              <a:buAutoNum type="arabicPeriod"/>
            </a:pPr>
            <a:r>
              <a:rPr lang="en-US" sz="1700" b="0" i="0" dirty="0">
                <a:solidFill>
                  <a:srgbClr val="333333"/>
                </a:solidFill>
                <a:effectLst/>
                <a:latin typeface="Times New Roman" panose="02020603050405020304" pitchFamily="18" charset="0"/>
                <a:cs typeface="Times New Roman" panose="02020603050405020304" pitchFamily="18" charset="0"/>
              </a:rPr>
              <a:t>Title</a:t>
            </a:r>
          </a:p>
          <a:p>
            <a:pPr algn="l">
              <a:buFont typeface="+mj-lt"/>
              <a:buAutoNum type="arabicPeriod"/>
            </a:pPr>
            <a:r>
              <a:rPr lang="en-US" sz="1700" dirty="0">
                <a:solidFill>
                  <a:srgbClr val="333333"/>
                </a:solidFill>
                <a:latin typeface="Times New Roman" panose="02020603050405020304" pitchFamily="18" charset="0"/>
                <a:cs typeface="Times New Roman" panose="02020603050405020304" pitchFamily="18" charset="0"/>
              </a:rPr>
              <a:t>Motivation</a:t>
            </a:r>
          </a:p>
          <a:p>
            <a:pPr algn="l">
              <a:buFont typeface="+mj-lt"/>
              <a:buAutoNum type="arabicPeriod"/>
            </a:pPr>
            <a:r>
              <a:rPr lang="en-US" sz="1700" b="0" i="0" dirty="0">
                <a:solidFill>
                  <a:srgbClr val="333333"/>
                </a:solidFill>
                <a:effectLst/>
                <a:latin typeface="Times New Roman" panose="02020603050405020304" pitchFamily="18" charset="0"/>
                <a:cs typeface="Times New Roman" panose="02020603050405020304" pitchFamily="18" charset="0"/>
              </a:rPr>
              <a:t>Background</a:t>
            </a:r>
          </a:p>
          <a:p>
            <a:pPr algn="l">
              <a:buFont typeface="+mj-lt"/>
              <a:buAutoNum type="arabicPeriod"/>
            </a:pPr>
            <a:r>
              <a:rPr lang="en-US" sz="1700" b="0" i="0" dirty="0">
                <a:solidFill>
                  <a:srgbClr val="333333"/>
                </a:solidFill>
                <a:effectLst/>
                <a:latin typeface="Times New Roman" panose="02020603050405020304" pitchFamily="18" charset="0"/>
                <a:cs typeface="Times New Roman" panose="02020603050405020304" pitchFamily="18" charset="0"/>
              </a:rPr>
              <a:t>Abstract(Problem statement)</a:t>
            </a:r>
          </a:p>
          <a:p>
            <a:pPr algn="l">
              <a:buFont typeface="+mj-lt"/>
              <a:buAutoNum type="arabicPeriod"/>
            </a:pPr>
            <a:r>
              <a:rPr lang="en-US" sz="1700" b="0" i="0" dirty="0">
                <a:solidFill>
                  <a:srgbClr val="333333"/>
                </a:solidFill>
                <a:effectLst/>
                <a:latin typeface="Times New Roman" panose="02020603050405020304" pitchFamily="18" charset="0"/>
                <a:cs typeface="Times New Roman" panose="02020603050405020304" pitchFamily="18" charset="0"/>
              </a:rPr>
              <a:t>Literature Survey</a:t>
            </a:r>
          </a:p>
          <a:p>
            <a:pPr algn="l">
              <a:buFont typeface="+mj-lt"/>
              <a:buAutoNum type="arabicPeriod"/>
            </a:pPr>
            <a:r>
              <a:rPr lang="en-US" sz="1700" b="0" i="0" dirty="0">
                <a:solidFill>
                  <a:srgbClr val="333333"/>
                </a:solidFill>
                <a:effectLst/>
                <a:latin typeface="Times New Roman" panose="02020603050405020304" pitchFamily="18" charset="0"/>
                <a:cs typeface="Times New Roman" panose="02020603050405020304" pitchFamily="18" charset="0"/>
              </a:rPr>
              <a:t>Objectives of the Study</a:t>
            </a:r>
          </a:p>
          <a:p>
            <a:pPr>
              <a:buFont typeface="+mj-lt"/>
              <a:buAutoNum type="arabicPeriod"/>
            </a:pPr>
            <a:r>
              <a:rPr lang="en-US" sz="1700" b="0" i="0" dirty="0">
                <a:solidFill>
                  <a:srgbClr val="333333"/>
                </a:solidFill>
                <a:effectLst/>
                <a:latin typeface="Times New Roman" panose="02020603050405020304" pitchFamily="18" charset="0"/>
                <a:cs typeface="Times New Roman" panose="02020603050405020304" pitchFamily="18" charset="0"/>
              </a:rPr>
              <a:t>Data Set and Data Processing</a:t>
            </a:r>
          </a:p>
          <a:p>
            <a:pPr algn="l">
              <a:buFont typeface="+mj-lt"/>
              <a:buAutoNum type="arabicPeriod"/>
            </a:pPr>
            <a:r>
              <a:rPr lang="en-US" sz="1700" dirty="0">
                <a:solidFill>
                  <a:srgbClr val="333333"/>
                </a:solidFill>
                <a:latin typeface="Times New Roman" panose="02020603050405020304" pitchFamily="18" charset="0"/>
                <a:cs typeface="Times New Roman" panose="02020603050405020304" pitchFamily="18" charset="0"/>
              </a:rPr>
              <a:t>Research Design(Blueprint/Workflow)</a:t>
            </a:r>
            <a:endParaRPr lang="en-US" sz="1700" b="0" i="0" dirty="0">
              <a:solidFill>
                <a:srgbClr val="333333"/>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1700" b="0" i="0" dirty="0">
                <a:solidFill>
                  <a:srgbClr val="333333"/>
                </a:solidFill>
                <a:effectLst/>
                <a:latin typeface="Times New Roman" panose="02020603050405020304" pitchFamily="18" charset="0"/>
                <a:cs typeface="Times New Roman" panose="02020603050405020304" pitchFamily="18" charset="0"/>
              </a:rPr>
              <a:t>Data Analysis and Model Description</a:t>
            </a:r>
          </a:p>
          <a:p>
            <a:pPr algn="l">
              <a:buFont typeface="+mj-lt"/>
              <a:buAutoNum type="arabicPeriod"/>
            </a:pPr>
            <a:r>
              <a:rPr lang="en-US" sz="1700" b="0" i="0" dirty="0">
                <a:solidFill>
                  <a:srgbClr val="333333"/>
                </a:solidFill>
                <a:effectLst/>
                <a:latin typeface="Times New Roman" panose="02020603050405020304" pitchFamily="18" charset="0"/>
                <a:cs typeface="Times New Roman" panose="02020603050405020304" pitchFamily="18" charset="0"/>
              </a:rPr>
              <a:t>Data Visualization and Results</a:t>
            </a:r>
          </a:p>
          <a:p>
            <a:pPr algn="l">
              <a:buFont typeface="+mj-lt"/>
              <a:buAutoNum type="arabicPeriod"/>
            </a:pPr>
            <a:r>
              <a:rPr lang="en-US" sz="1700" b="0" i="0" dirty="0">
                <a:solidFill>
                  <a:srgbClr val="333333"/>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lang="en-US" sz="1700" b="0" i="0" dirty="0">
                <a:solidFill>
                  <a:srgbClr val="333333"/>
                </a:solidFill>
                <a:effectLst/>
                <a:latin typeface="Times New Roman" panose="02020603050405020304" pitchFamily="18" charset="0"/>
                <a:cs typeface="Times New Roman" panose="02020603050405020304" pitchFamily="18" charset="0"/>
              </a:rPr>
              <a:t>References</a:t>
            </a:r>
          </a:p>
        </p:txBody>
      </p:sp>
      <p:pic>
        <p:nvPicPr>
          <p:cNvPr id="9" name="Picture 8">
            <a:extLst>
              <a:ext uri="{FF2B5EF4-FFF2-40B4-BE49-F238E27FC236}">
                <a16:creationId xmlns:a16="http://schemas.microsoft.com/office/drawing/2014/main" id="{ECB6D677-D81E-484B-BFB8-CF94D1CE1711}"/>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A9B30FB0-FF45-D042-89A3-79367CD4EE43}"/>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A7AD38CC-4F1C-48A1-AB51-7AEC952911E0}"/>
              </a:ext>
            </a:extLst>
          </p:cNvPr>
          <p:cNvSpPr>
            <a:spLocks noGrp="1"/>
          </p:cNvSpPr>
          <p:nvPr>
            <p:ph type="title"/>
          </p:nvPr>
        </p:nvSpPr>
        <p:spPr>
          <a:xfrm>
            <a:off x="801789" y="365125"/>
            <a:ext cx="10677965" cy="754769"/>
          </a:xfrm>
        </p:spPr>
        <p:txBody>
          <a:bodyPr>
            <a:normAutofit/>
          </a:bodyPr>
          <a:lstStyle/>
          <a:p>
            <a:r>
              <a:rPr lang="en-US" b="1">
                <a:solidFill>
                  <a:srgbClr val="079418"/>
                </a:solidFill>
                <a:latin typeface="Times New Roman" panose="02020603050405020304" pitchFamily="18" charset="0"/>
                <a:cs typeface="Times New Roman" panose="02020603050405020304" pitchFamily="18" charset="0"/>
              </a:rPr>
              <a:t>Agenda</a:t>
            </a:r>
            <a:endParaRPr lang="en-US">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4896B3D-642C-4784-AEDF-18C0033657CC}"/>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0071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4C491-5309-DE4C-E08D-CDD642A312F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4B5E928-CF30-7021-46F1-E3E638B2F0F4}"/>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D08E6F78-11BE-1B06-A9E9-F7BAD9AF3161}"/>
              </a:ext>
            </a:extLst>
          </p:cNvPr>
          <p:cNvPicPr>
            <a:picLocks noChangeAspect="1"/>
          </p:cNvPicPr>
          <p:nvPr/>
        </p:nvPicPr>
        <p:blipFill>
          <a:blip r:embed="rId3"/>
          <a:stretch>
            <a:fillRect/>
          </a:stretch>
        </p:blipFill>
        <p:spPr>
          <a:xfrm>
            <a:off x="231962" y="6016749"/>
            <a:ext cx="1599045" cy="685305"/>
          </a:xfrm>
          <a:prstGeom prst="rect">
            <a:avLst/>
          </a:prstGeom>
        </p:spPr>
      </p:pic>
      <p:sp>
        <p:nvSpPr>
          <p:cNvPr id="4" name="Slide Number Placeholder 3">
            <a:extLst>
              <a:ext uri="{FF2B5EF4-FFF2-40B4-BE49-F238E27FC236}">
                <a16:creationId xmlns:a16="http://schemas.microsoft.com/office/drawing/2014/main" id="{554113BB-032B-04BC-4C76-4F8AF6DF9DB9}"/>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E050B4C5-87AD-42EC-062C-A7CDF06C4C74}"/>
              </a:ext>
            </a:extLst>
          </p:cNvPr>
          <p:cNvSpPr>
            <a:spLocks noGrp="1"/>
          </p:cNvSpPr>
          <p:nvPr>
            <p:ph type="title"/>
          </p:nvPr>
        </p:nvSpPr>
        <p:spPr>
          <a:xfrm>
            <a:off x="838200" y="365125"/>
            <a:ext cx="10515600" cy="1051463"/>
          </a:xfrm>
        </p:spPr>
        <p:txBody>
          <a:bodyPr/>
          <a:lstStyle/>
          <a:p>
            <a:r>
              <a:rPr lang="en-US" b="1">
                <a:solidFill>
                  <a:srgbClr val="079418"/>
                </a:solidFill>
                <a:latin typeface="Times New Roman"/>
                <a:ea typeface="Calibri Light"/>
                <a:cs typeface="Calibri Light"/>
              </a:rPr>
              <a:t>Motivation</a:t>
            </a:r>
            <a:r>
              <a:rPr lang="en-US" sz="3200" b="1">
                <a:latin typeface="Times New Roman"/>
                <a:ea typeface="Calibri Light"/>
                <a:cs typeface="Calibri Light"/>
              </a:rPr>
              <a:t> </a:t>
            </a:r>
            <a:endParaRPr lang="en-US" sz="3200" b="1">
              <a:solidFill>
                <a:srgbClr val="068817"/>
              </a:solidFill>
              <a:latin typeface="Times New Roman"/>
              <a:cs typeface="Times New Roman"/>
            </a:endParaRPr>
          </a:p>
        </p:txBody>
      </p:sp>
      <p:sp>
        <p:nvSpPr>
          <p:cNvPr id="2" name="Content Placeholder 1">
            <a:extLst>
              <a:ext uri="{FF2B5EF4-FFF2-40B4-BE49-F238E27FC236}">
                <a16:creationId xmlns:a16="http://schemas.microsoft.com/office/drawing/2014/main" id="{33C24F5F-6A6F-74B3-551D-6E44DAA7EB8D}"/>
              </a:ext>
            </a:extLst>
          </p:cNvPr>
          <p:cNvSpPr>
            <a:spLocks noGrp="1" noChangeArrowheads="1"/>
          </p:cNvSpPr>
          <p:nvPr>
            <p:ph idx="1"/>
          </p:nvPr>
        </p:nvSpPr>
        <p:spPr bwMode="auto">
          <a:xfrm>
            <a:off x="710381" y="1205606"/>
            <a:ext cx="11468845" cy="3330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Early cancer classification is crucial for effective treatment, especially for hematological cancers like leukemia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Traditional analysis by pathologists is time-consuming and may lead to inconsistencies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Deep learning offers automated, efficient alternatives to manual microscopic analysis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Addressing the limitation of poor generalization in existing models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Creating a more reliable clinical model through stacked learning approach </a:t>
            </a:r>
          </a:p>
        </p:txBody>
      </p:sp>
    </p:spTree>
    <p:extLst>
      <p:ext uri="{BB962C8B-B14F-4D97-AF65-F5344CB8AC3E}">
        <p14:creationId xmlns:p14="http://schemas.microsoft.com/office/powerpoint/2010/main" val="2124836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5B074-F329-0ED8-737C-C28C2075FA2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CFAA09D-2598-26C2-C61F-0A389F002716}"/>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EFE0AD65-FA07-21BD-1F3D-CE15DCE98D11}"/>
              </a:ext>
            </a:extLst>
          </p:cNvPr>
          <p:cNvPicPr>
            <a:picLocks noChangeAspect="1"/>
          </p:cNvPicPr>
          <p:nvPr/>
        </p:nvPicPr>
        <p:blipFill>
          <a:blip r:embed="rId3"/>
          <a:stretch>
            <a:fillRect/>
          </a:stretch>
        </p:blipFill>
        <p:spPr>
          <a:xfrm>
            <a:off x="231962" y="6016749"/>
            <a:ext cx="1599045" cy="685305"/>
          </a:xfrm>
          <a:prstGeom prst="rect">
            <a:avLst/>
          </a:prstGeom>
        </p:spPr>
      </p:pic>
      <p:sp>
        <p:nvSpPr>
          <p:cNvPr id="4" name="Slide Number Placeholder 3">
            <a:extLst>
              <a:ext uri="{FF2B5EF4-FFF2-40B4-BE49-F238E27FC236}">
                <a16:creationId xmlns:a16="http://schemas.microsoft.com/office/drawing/2014/main" id="{2E126355-3ED3-9694-D2AF-48FDFD17A830}"/>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5</a:t>
            </a:fld>
            <a:endParaRPr lang="en-US">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1050754E-3A4F-CA1D-63AA-89E64026B225}"/>
              </a:ext>
            </a:extLst>
          </p:cNvPr>
          <p:cNvSpPr>
            <a:spLocks noGrp="1"/>
          </p:cNvSpPr>
          <p:nvPr>
            <p:ph type="title"/>
          </p:nvPr>
        </p:nvSpPr>
        <p:spPr>
          <a:xfrm>
            <a:off x="838200" y="365125"/>
            <a:ext cx="10515600" cy="873740"/>
          </a:xfrm>
        </p:spPr>
        <p:txBody>
          <a:bodyPr>
            <a:normAutofit/>
          </a:bodyPr>
          <a:lstStyle/>
          <a:p>
            <a:r>
              <a:rPr lang="en-US" b="1" dirty="0">
                <a:solidFill>
                  <a:srgbClr val="079418"/>
                </a:solidFill>
                <a:latin typeface="Times New Roman"/>
                <a:ea typeface="+mj-lt"/>
                <a:cs typeface="+mj-lt"/>
              </a:rPr>
              <a:t>Background</a:t>
            </a:r>
            <a:endParaRPr lang="en-US" b="1" dirty="0">
              <a:solidFill>
                <a:srgbClr val="079418"/>
              </a:solidFill>
              <a:latin typeface="Times New Roman"/>
              <a:cs typeface="Times New Roman"/>
            </a:endParaRPr>
          </a:p>
        </p:txBody>
      </p:sp>
      <p:sp>
        <p:nvSpPr>
          <p:cNvPr id="8" name="Content Placeholder 7">
            <a:extLst>
              <a:ext uri="{FF2B5EF4-FFF2-40B4-BE49-F238E27FC236}">
                <a16:creationId xmlns:a16="http://schemas.microsoft.com/office/drawing/2014/main" id="{65D69D7E-B1D6-2D10-B14E-9CB7B4F8D166}"/>
              </a:ext>
            </a:extLst>
          </p:cNvPr>
          <p:cNvSpPr>
            <a:spLocks noGrp="1"/>
          </p:cNvSpPr>
          <p:nvPr>
            <p:ph idx="1"/>
          </p:nvPr>
        </p:nvSpPr>
        <p:spPr>
          <a:xfrm>
            <a:off x="838200" y="1667474"/>
            <a:ext cx="10515600" cy="4351338"/>
          </a:xfrm>
        </p:spPr>
        <p:txBody>
          <a:bodyPr vert="horz" lIns="91440" tIns="45720" rIns="91440" bIns="45720" rtlCol="0" anchor="t">
            <a:noAutofit/>
          </a:bodyPr>
          <a:lstStyle/>
          <a:p>
            <a:endParaRPr lang="en-US" dirty="0">
              <a:ea typeface="Calibri"/>
              <a:cs typeface="Calibri"/>
            </a:endParaRPr>
          </a:p>
          <a:p>
            <a:endParaRPr lang="en-US" dirty="0">
              <a:ea typeface="Calibri"/>
              <a:cs typeface="Calibri"/>
            </a:endParaRPr>
          </a:p>
        </p:txBody>
      </p:sp>
      <p:sp>
        <p:nvSpPr>
          <p:cNvPr id="6" name="TextBox 5">
            <a:extLst>
              <a:ext uri="{FF2B5EF4-FFF2-40B4-BE49-F238E27FC236}">
                <a16:creationId xmlns:a16="http://schemas.microsoft.com/office/drawing/2014/main" id="{B88435A6-5CCA-57EB-5154-1210B0078FDA}"/>
              </a:ext>
            </a:extLst>
          </p:cNvPr>
          <p:cNvSpPr txBox="1"/>
          <p:nvPr/>
        </p:nvSpPr>
        <p:spPr>
          <a:xfrm>
            <a:off x="604685" y="1667474"/>
            <a:ext cx="10648335" cy="2784737"/>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Convolutional neural networks (CNNs) have proven effective in recognizing blood cells</a:t>
            </a:r>
          </a:p>
          <a:p>
            <a:pPr marL="285750" indent="-285750">
              <a:lnSpc>
                <a:spcPct val="200000"/>
              </a:lnSpc>
              <a:buFont typeface="Arial" panose="020B0604020202020204" pitchFamily="34" charset="0"/>
              <a:buChar char="•"/>
            </a:pPr>
            <a:r>
              <a:rPr lang="en-US" dirty="0"/>
              <a:t>Existing models often show good training performance but poor generalization</a:t>
            </a:r>
          </a:p>
          <a:p>
            <a:pPr marL="285750" indent="-285750">
              <a:lnSpc>
                <a:spcPct val="200000"/>
              </a:lnSpc>
              <a:buFont typeface="Arial" panose="020B0604020202020204" pitchFamily="34" charset="0"/>
              <a:buChar char="•"/>
            </a:pPr>
            <a:r>
              <a:rPr lang="en-US" dirty="0"/>
              <a:t>Single-stage classification models have limitations in diagnostic prediction</a:t>
            </a:r>
          </a:p>
          <a:p>
            <a:pPr marL="285750" indent="-285750">
              <a:lnSpc>
                <a:spcPct val="200000"/>
              </a:lnSpc>
              <a:buFont typeface="Arial" panose="020B0604020202020204" pitchFamily="34" charset="0"/>
              <a:buChar char="•"/>
            </a:pPr>
            <a:r>
              <a:rPr lang="en-US" dirty="0"/>
              <a:t>Deep learning models are often treated as "black boxes" in medical applications</a:t>
            </a:r>
          </a:p>
          <a:p>
            <a:pPr marL="285750" indent="-285750">
              <a:lnSpc>
                <a:spcPct val="200000"/>
              </a:lnSpc>
              <a:buFont typeface="Arial" panose="020B0604020202020204" pitchFamily="34" charset="0"/>
              <a:buChar char="•"/>
            </a:pPr>
            <a:r>
              <a:rPr lang="en-US" dirty="0"/>
              <a:t>Stacking ensemble techniques can enhance model accuracy and reliability</a:t>
            </a:r>
          </a:p>
        </p:txBody>
      </p:sp>
    </p:spTree>
    <p:extLst>
      <p:ext uri="{BB962C8B-B14F-4D97-AF65-F5344CB8AC3E}">
        <p14:creationId xmlns:p14="http://schemas.microsoft.com/office/powerpoint/2010/main" val="934443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F996C-89B6-769B-DC0D-FF5AA110A13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737A752-A42A-DB9D-CF6F-B9BE88C30A56}"/>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0248E798-EA1F-4DDA-9E51-5A8D157D2956}"/>
              </a:ext>
            </a:extLst>
          </p:cNvPr>
          <p:cNvPicPr>
            <a:picLocks noChangeAspect="1"/>
          </p:cNvPicPr>
          <p:nvPr/>
        </p:nvPicPr>
        <p:blipFill>
          <a:blip r:embed="rId3"/>
          <a:stretch>
            <a:fillRect/>
          </a:stretch>
        </p:blipFill>
        <p:spPr>
          <a:xfrm>
            <a:off x="231962" y="6016749"/>
            <a:ext cx="1599045" cy="685305"/>
          </a:xfrm>
          <a:prstGeom prst="rect">
            <a:avLst/>
          </a:prstGeom>
        </p:spPr>
      </p:pic>
      <p:sp>
        <p:nvSpPr>
          <p:cNvPr id="4" name="Slide Number Placeholder 3">
            <a:extLst>
              <a:ext uri="{FF2B5EF4-FFF2-40B4-BE49-F238E27FC236}">
                <a16:creationId xmlns:a16="http://schemas.microsoft.com/office/drawing/2014/main" id="{568E4765-AB24-6177-506E-201CD818AB9E}"/>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C26C3B33-2AB1-ED96-4E2C-DF512E1C1B9A}"/>
              </a:ext>
            </a:extLst>
          </p:cNvPr>
          <p:cNvSpPr>
            <a:spLocks noGrp="1"/>
          </p:cNvSpPr>
          <p:nvPr>
            <p:ph type="title"/>
          </p:nvPr>
        </p:nvSpPr>
        <p:spPr/>
        <p:txBody>
          <a:bodyPr/>
          <a:lstStyle/>
          <a:p>
            <a:r>
              <a:rPr lang="en-US" b="1">
                <a:solidFill>
                  <a:srgbClr val="079418"/>
                </a:solidFill>
                <a:latin typeface="Times New Roman"/>
                <a:ea typeface="+mj-lt"/>
                <a:cs typeface="+mj-lt"/>
              </a:rPr>
              <a:t>Problem Statement</a:t>
            </a:r>
            <a:endParaRPr lang="en-US" b="1">
              <a:solidFill>
                <a:srgbClr val="079418"/>
              </a:solidFill>
              <a:latin typeface="Times New Roman"/>
            </a:endParaRPr>
          </a:p>
        </p:txBody>
      </p:sp>
      <p:sp>
        <p:nvSpPr>
          <p:cNvPr id="8" name="Content Placeholder 7">
            <a:extLst>
              <a:ext uri="{FF2B5EF4-FFF2-40B4-BE49-F238E27FC236}">
                <a16:creationId xmlns:a16="http://schemas.microsoft.com/office/drawing/2014/main" id="{E4D64831-495C-2D51-2104-F30429746877}"/>
              </a:ext>
            </a:extLst>
          </p:cNvPr>
          <p:cNvSpPr>
            <a:spLocks noGrp="1"/>
          </p:cNvSpPr>
          <p:nvPr>
            <p:ph idx="1"/>
          </p:nvPr>
        </p:nvSpPr>
        <p:spPr>
          <a:xfrm>
            <a:off x="838200" y="1717640"/>
            <a:ext cx="10515600" cy="4351338"/>
          </a:xfrm>
        </p:spPr>
        <p:txBody>
          <a:bodyPr vert="horz" lIns="91440" tIns="45720" rIns="91440" bIns="45720" rtlCol="0" anchor="t">
            <a:normAutofit/>
          </a:bodyPr>
          <a:lstStyle/>
          <a:p>
            <a:pPr marL="0" indent="0">
              <a:buNone/>
            </a:pPr>
            <a:r>
              <a:rPr lang="en-US" sz="2000" b="1" dirty="0">
                <a:latin typeface="Times New Roman"/>
                <a:ea typeface="+mn-lt"/>
                <a:cs typeface="+mn-lt"/>
              </a:rPr>
              <a:t>Challenge: </a:t>
            </a:r>
            <a:r>
              <a:rPr lang="en-US" sz="2000" dirty="0">
                <a:latin typeface="Times New Roman"/>
                <a:ea typeface="+mn-lt"/>
                <a:cs typeface="+mn-lt"/>
              </a:rPr>
              <a:t>Accurate classification of malignant cells is foundational for blood cancer detection</a:t>
            </a:r>
          </a:p>
          <a:p>
            <a:pPr marL="0" indent="0">
              <a:buNone/>
            </a:pPr>
            <a:r>
              <a:rPr lang="en-US" sz="2000" b="1" dirty="0">
                <a:latin typeface="Times New Roman"/>
                <a:ea typeface="+mn-lt"/>
                <a:cs typeface="+mn-lt"/>
              </a:rPr>
              <a:t>Limitations:</a:t>
            </a:r>
          </a:p>
          <a:p>
            <a:r>
              <a:rPr lang="en-US" sz="2000" dirty="0">
                <a:latin typeface="Times New Roman"/>
                <a:ea typeface="+mn-lt"/>
                <a:cs typeface="+mn-lt"/>
              </a:rPr>
              <a:t>Current algorithms predict well on training data but struggle with generalization</a:t>
            </a:r>
          </a:p>
          <a:p>
            <a:r>
              <a:rPr lang="en-US" sz="2000" dirty="0">
                <a:latin typeface="Times New Roman"/>
                <a:ea typeface="+mn-lt"/>
                <a:cs typeface="+mn-lt"/>
              </a:rPr>
              <a:t>Uneven class distribution and inconsistent image quality affect performance</a:t>
            </a:r>
          </a:p>
          <a:p>
            <a:r>
              <a:rPr lang="en-US" sz="2000" dirty="0">
                <a:latin typeface="Times New Roman"/>
                <a:ea typeface="+mn-lt"/>
                <a:cs typeface="+mn-lt"/>
              </a:rPr>
              <a:t>Single-stage classification lacks comprehensive diagnostic prediction</a:t>
            </a:r>
          </a:p>
          <a:p>
            <a:r>
              <a:rPr lang="en-US" sz="2000" dirty="0">
                <a:latin typeface="Times New Roman"/>
                <a:ea typeface="+mn-lt"/>
                <a:cs typeface="+mn-lt"/>
              </a:rPr>
              <a:t>Limited interpretability of deep learning models hinders medical adoption</a:t>
            </a:r>
          </a:p>
          <a:p>
            <a:pPr marL="0" indent="0">
              <a:buNone/>
            </a:pPr>
            <a:br>
              <a:rPr lang="en-US" sz="2000" dirty="0">
                <a:latin typeface="Times New Roman"/>
                <a:ea typeface="+mn-lt"/>
                <a:cs typeface="+mn-lt"/>
              </a:rPr>
            </a:br>
            <a:r>
              <a:rPr lang="en-US" sz="2000" b="1" dirty="0">
                <a:latin typeface="Times New Roman"/>
                <a:ea typeface="+mn-lt"/>
                <a:cs typeface="+mn-lt"/>
              </a:rPr>
              <a:t>Our Solution:</a:t>
            </a:r>
            <a:endParaRPr lang="en-US" sz="2000" dirty="0">
              <a:latin typeface="Times New Roman"/>
              <a:ea typeface="+mn-lt"/>
              <a:cs typeface="+mn-lt"/>
            </a:endParaRPr>
          </a:p>
          <a:p>
            <a:r>
              <a:rPr lang="en-US" sz="2000" dirty="0">
                <a:latin typeface="Times New Roman"/>
                <a:ea typeface="+mn-lt"/>
                <a:cs typeface="+mn-lt"/>
              </a:rPr>
              <a:t>Multi-stage classification framework using stacking mechanisms</a:t>
            </a:r>
          </a:p>
          <a:p>
            <a:r>
              <a:rPr lang="en-US" sz="2000" dirty="0">
                <a:latin typeface="Times New Roman"/>
                <a:ea typeface="+mn-lt"/>
                <a:cs typeface="+mn-lt"/>
              </a:rPr>
              <a:t>Integration of multiple deep learning architectures</a:t>
            </a:r>
          </a:p>
          <a:p>
            <a:r>
              <a:rPr lang="en-US" sz="2000" dirty="0">
                <a:latin typeface="Times New Roman"/>
                <a:ea typeface="+mn-lt"/>
                <a:cs typeface="+mn-lt"/>
              </a:rPr>
              <a:t>Enhanced interpretability through LIME and SHAP visualizations</a:t>
            </a:r>
          </a:p>
        </p:txBody>
      </p:sp>
    </p:spTree>
    <p:extLst>
      <p:ext uri="{BB962C8B-B14F-4D97-AF65-F5344CB8AC3E}">
        <p14:creationId xmlns:p14="http://schemas.microsoft.com/office/powerpoint/2010/main" val="578342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341B0-D071-817D-79CE-1451C20939A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C81A4A4-A044-BF59-EBCE-70CAB91DE6DE}"/>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C7E26EC6-CDA8-F642-5920-0425D7854AE2}"/>
              </a:ext>
            </a:extLst>
          </p:cNvPr>
          <p:cNvPicPr>
            <a:picLocks noChangeAspect="1"/>
          </p:cNvPicPr>
          <p:nvPr/>
        </p:nvPicPr>
        <p:blipFill>
          <a:blip r:embed="rId3"/>
          <a:stretch>
            <a:fillRect/>
          </a:stretch>
        </p:blipFill>
        <p:spPr>
          <a:xfrm>
            <a:off x="231962" y="6016749"/>
            <a:ext cx="1599045" cy="685305"/>
          </a:xfrm>
          <a:prstGeom prst="rect">
            <a:avLst/>
          </a:prstGeom>
        </p:spPr>
      </p:pic>
      <p:sp>
        <p:nvSpPr>
          <p:cNvPr id="4" name="Slide Number Placeholder 3">
            <a:extLst>
              <a:ext uri="{FF2B5EF4-FFF2-40B4-BE49-F238E27FC236}">
                <a16:creationId xmlns:a16="http://schemas.microsoft.com/office/drawing/2014/main" id="{F4753229-801E-5D55-68AB-C77C204D5C8F}"/>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7B3C13E5-B6CC-669A-941A-097956940038}"/>
              </a:ext>
            </a:extLst>
          </p:cNvPr>
          <p:cNvSpPr>
            <a:spLocks noGrp="1"/>
          </p:cNvSpPr>
          <p:nvPr>
            <p:ph type="title"/>
          </p:nvPr>
        </p:nvSpPr>
        <p:spPr/>
        <p:txBody>
          <a:bodyPr/>
          <a:lstStyle/>
          <a:p>
            <a:r>
              <a:rPr lang="en-US" b="1">
                <a:solidFill>
                  <a:srgbClr val="079418"/>
                </a:solidFill>
                <a:latin typeface="Times New Roman"/>
                <a:ea typeface="Calibri Light"/>
                <a:cs typeface="Calibri Light"/>
              </a:rPr>
              <a:t>Literature review</a:t>
            </a:r>
          </a:p>
        </p:txBody>
      </p:sp>
      <p:sp>
        <p:nvSpPr>
          <p:cNvPr id="8" name="Content Placeholder 7">
            <a:extLst>
              <a:ext uri="{FF2B5EF4-FFF2-40B4-BE49-F238E27FC236}">
                <a16:creationId xmlns:a16="http://schemas.microsoft.com/office/drawing/2014/main" id="{4DAA8423-E125-CB2C-8DAB-B1B0D45D7070}"/>
              </a:ext>
            </a:extLst>
          </p:cNvPr>
          <p:cNvSpPr>
            <a:spLocks noGrp="1"/>
          </p:cNvSpPr>
          <p:nvPr>
            <p:ph idx="1"/>
          </p:nvPr>
        </p:nvSpPr>
        <p:spPr/>
        <p:txBody>
          <a:bodyPr vert="horz" lIns="91440" tIns="45720" rIns="91440" bIns="45720" rtlCol="0" anchor="t">
            <a:normAutofit/>
          </a:bodyPr>
          <a:lstStyle/>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Comparative Analysis of Diverse Architectures (</a:t>
            </a:r>
            <a:r>
              <a:rPr lang="en-US" sz="2000" dirty="0" err="1">
                <a:latin typeface="Times New Roman" panose="02020603050405020304" pitchFamily="18" charset="0"/>
                <a:cs typeface="Times New Roman" panose="02020603050405020304" pitchFamily="18" charset="0"/>
              </a:rPr>
              <a:t>Muttakin</a:t>
            </a:r>
            <a:r>
              <a:rPr lang="en-US" sz="2000" dirty="0">
                <a:latin typeface="Times New Roman" panose="02020603050405020304" pitchFamily="18" charset="0"/>
                <a:cs typeface="Times New Roman" panose="02020603050405020304" pitchFamily="18" charset="0"/>
              </a:rPr>
              <a:t> et al., 2024) Deep learning approaches improve blood cancer classification</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ResNet</a:t>
            </a:r>
            <a:r>
              <a:rPr lang="en-US" sz="2000" dirty="0">
                <a:latin typeface="Times New Roman" panose="02020603050405020304" pitchFamily="18" charset="0"/>
                <a:cs typeface="Times New Roman" panose="02020603050405020304" pitchFamily="18" charset="0"/>
              </a:rPr>
              <a:t>, VGG16, and Inception models show good results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DVS: Blood Cancer Detection using Novel CNN-based Ensemble Approach (Ahad et al., 2024) CNN enables extraction of sophisticated image patterns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Ensemble learning enhances diagnostic precision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Dense Convolutional Network and Its Application in Medical Image Analysis (Zhou et al., 2022) Dense networks effective for medical image analysis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Feature reuse improves model efficiency</a:t>
            </a:r>
          </a:p>
          <a:p>
            <a:endParaRPr lang="en-US" sz="2000"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461141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3BA77-64E9-638C-8E9E-9BEA5F908FB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6C51335-284F-994A-F65A-AA00B4E7FB50}"/>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DA36954F-FB38-8192-D5DA-F456A06D4FC7}"/>
              </a:ext>
            </a:extLst>
          </p:cNvPr>
          <p:cNvPicPr>
            <a:picLocks noChangeAspect="1"/>
          </p:cNvPicPr>
          <p:nvPr/>
        </p:nvPicPr>
        <p:blipFill>
          <a:blip r:embed="rId3"/>
          <a:stretch>
            <a:fillRect/>
          </a:stretch>
        </p:blipFill>
        <p:spPr>
          <a:xfrm>
            <a:off x="231962" y="6016749"/>
            <a:ext cx="1599045" cy="685305"/>
          </a:xfrm>
          <a:prstGeom prst="rect">
            <a:avLst/>
          </a:prstGeom>
        </p:spPr>
      </p:pic>
      <p:sp>
        <p:nvSpPr>
          <p:cNvPr id="4" name="Slide Number Placeholder 3">
            <a:extLst>
              <a:ext uri="{FF2B5EF4-FFF2-40B4-BE49-F238E27FC236}">
                <a16:creationId xmlns:a16="http://schemas.microsoft.com/office/drawing/2014/main" id="{1A2C75E8-43BF-5D60-67A6-0C48DF669BB4}"/>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989693D5-C32E-7837-2B05-5D0089808B2A}"/>
              </a:ext>
            </a:extLst>
          </p:cNvPr>
          <p:cNvSpPr>
            <a:spLocks noGrp="1"/>
          </p:cNvSpPr>
          <p:nvPr>
            <p:ph type="title"/>
          </p:nvPr>
        </p:nvSpPr>
        <p:spPr/>
        <p:txBody>
          <a:bodyPr/>
          <a:lstStyle/>
          <a:p>
            <a:r>
              <a:rPr lang="en-US" b="1">
                <a:solidFill>
                  <a:srgbClr val="079418"/>
                </a:solidFill>
                <a:latin typeface="Times New Roman"/>
                <a:ea typeface="Calibri Light"/>
                <a:cs typeface="Calibri Light"/>
              </a:rPr>
              <a:t>Objectives of the study</a:t>
            </a:r>
            <a:r>
              <a:rPr lang="en-US">
                <a:ea typeface="Calibri Light"/>
                <a:cs typeface="Calibri Light"/>
              </a:rPr>
              <a:t>   </a:t>
            </a:r>
            <a:endParaRPr lang="en-US"/>
          </a:p>
        </p:txBody>
      </p:sp>
      <p:sp>
        <p:nvSpPr>
          <p:cNvPr id="8" name="Content Placeholder 7">
            <a:extLst>
              <a:ext uri="{FF2B5EF4-FFF2-40B4-BE49-F238E27FC236}">
                <a16:creationId xmlns:a16="http://schemas.microsoft.com/office/drawing/2014/main" id="{4B83F3F6-F4D4-A4CF-9A13-158899602C12}"/>
              </a:ext>
            </a:extLst>
          </p:cNvPr>
          <p:cNvSpPr>
            <a:spLocks noGrp="1"/>
          </p:cNvSpPr>
          <p:nvPr>
            <p:ph idx="1"/>
          </p:nvPr>
        </p:nvSpPr>
        <p:spPr>
          <a:xfrm>
            <a:off x="700548" y="1847850"/>
            <a:ext cx="10515600" cy="4351338"/>
          </a:xfrm>
        </p:spPr>
        <p:txBody>
          <a:bodyPr vert="horz" lIns="91440" tIns="45720" rIns="91440" bIns="45720" rtlCol="0" anchor="t">
            <a:noAutofit/>
          </a:bodyPr>
          <a:lstStyle/>
          <a:p>
            <a:r>
              <a:rPr lang="en-US" sz="2000" dirty="0">
                <a:latin typeface="Times New Roman"/>
                <a:ea typeface="Calibri"/>
                <a:cs typeface="Calibri"/>
              </a:rPr>
              <a:t>Create a classification framework made up of multiple deep learning models through stacking implementation</a:t>
            </a:r>
          </a:p>
          <a:p>
            <a:r>
              <a:rPr lang="en-US" sz="2000" dirty="0">
                <a:latin typeface="Times New Roman"/>
                <a:ea typeface="Calibri"/>
                <a:cs typeface="Calibri"/>
              </a:rPr>
              <a:t>A meta-learning framework will improve the refinement of prediction results as well as enhance metric performance.</a:t>
            </a:r>
          </a:p>
          <a:p>
            <a:r>
              <a:rPr lang="en-US" sz="2000" dirty="0">
                <a:latin typeface="Times New Roman"/>
                <a:ea typeface="Calibri"/>
                <a:cs typeface="Calibri"/>
              </a:rPr>
              <a:t>An improved blood cell image classification method needs to address the challenges of single-stage limitations.</a:t>
            </a:r>
          </a:p>
          <a:p>
            <a:r>
              <a:rPr lang="en-US" sz="2000" dirty="0">
                <a:latin typeface="Times New Roman"/>
                <a:ea typeface="Calibri"/>
                <a:cs typeface="Calibri"/>
              </a:rPr>
              <a:t>Model predictive capabilities will reach their apex when ensemble learning methods with stacking mechanism are used.</a:t>
            </a:r>
          </a:p>
          <a:p>
            <a:r>
              <a:rPr lang="en-US" sz="2000" dirty="0">
                <a:latin typeface="Times New Roman"/>
                <a:ea typeface="Calibri"/>
                <a:cs typeface="Calibri"/>
              </a:rPr>
              <a:t>Improving model interpretability involves using LIME tools</a:t>
            </a:r>
          </a:p>
          <a:p>
            <a:endParaRPr lang="en-US" sz="2000" dirty="0">
              <a:latin typeface="Times New Roman"/>
              <a:ea typeface="Calibri"/>
              <a:cs typeface="Calibri"/>
            </a:endParaRPr>
          </a:p>
        </p:txBody>
      </p:sp>
    </p:spTree>
    <p:extLst>
      <p:ext uri="{BB962C8B-B14F-4D97-AF65-F5344CB8AC3E}">
        <p14:creationId xmlns:p14="http://schemas.microsoft.com/office/powerpoint/2010/main" val="759627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E5E4E-254D-6573-2448-99D2A4173E00}"/>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54510DB-0C40-9155-3C7B-7FDE50E92843}"/>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1E93E239-5345-22F2-BB79-98FF5DD05A02}"/>
              </a:ext>
            </a:extLst>
          </p:cNvPr>
          <p:cNvPicPr>
            <a:picLocks noChangeAspect="1"/>
          </p:cNvPicPr>
          <p:nvPr/>
        </p:nvPicPr>
        <p:blipFill>
          <a:blip r:embed="rId3"/>
          <a:stretch>
            <a:fillRect/>
          </a:stretch>
        </p:blipFill>
        <p:spPr>
          <a:xfrm>
            <a:off x="231962" y="6016749"/>
            <a:ext cx="1599045" cy="685305"/>
          </a:xfrm>
          <a:prstGeom prst="rect">
            <a:avLst/>
          </a:prstGeom>
        </p:spPr>
      </p:pic>
      <p:sp>
        <p:nvSpPr>
          <p:cNvPr id="4" name="Slide Number Placeholder 3">
            <a:extLst>
              <a:ext uri="{FF2B5EF4-FFF2-40B4-BE49-F238E27FC236}">
                <a16:creationId xmlns:a16="http://schemas.microsoft.com/office/drawing/2014/main" id="{DBC604EF-8FC0-5D5F-D290-E9D3618E067A}"/>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A0CB185E-D1C1-0448-4605-AEDFB934C328}"/>
              </a:ext>
            </a:extLst>
          </p:cNvPr>
          <p:cNvSpPr>
            <a:spLocks noGrp="1"/>
          </p:cNvSpPr>
          <p:nvPr>
            <p:ph type="title"/>
          </p:nvPr>
        </p:nvSpPr>
        <p:spPr/>
        <p:txBody>
          <a:bodyPr/>
          <a:lstStyle/>
          <a:p>
            <a:r>
              <a:rPr lang="en-US" b="1">
                <a:solidFill>
                  <a:srgbClr val="079418"/>
                </a:solidFill>
                <a:latin typeface="Times New Roman"/>
                <a:ea typeface="Calibri Light"/>
                <a:cs typeface="Calibri Light"/>
              </a:rPr>
              <a:t>Dataset and Data-Preprocessing</a:t>
            </a:r>
          </a:p>
        </p:txBody>
      </p:sp>
      <p:sp>
        <p:nvSpPr>
          <p:cNvPr id="2" name="Content Placeholder 1">
            <a:extLst>
              <a:ext uri="{FF2B5EF4-FFF2-40B4-BE49-F238E27FC236}">
                <a16:creationId xmlns:a16="http://schemas.microsoft.com/office/drawing/2014/main" id="{4D3D65D9-045E-D69B-04FC-26C097B00812}"/>
              </a:ext>
            </a:extLst>
          </p:cNvPr>
          <p:cNvSpPr>
            <a:spLocks noGrp="1" noChangeArrowheads="1"/>
          </p:cNvSpPr>
          <p:nvPr>
            <p:ph idx="1"/>
          </p:nvPr>
        </p:nvSpPr>
        <p:spPr bwMode="auto">
          <a:xfrm>
            <a:off x="737420" y="2220831"/>
            <a:ext cx="9839344"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Blood Cell Images for Cancer Detection (Kaggle)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Processing Pipeline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resizing to standardized dimensions (299×299 for most models, 224×224 for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normalization and augmentation (random crops, horizontal flips, rotations, color jitter)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Train/validation/test split (80%/10%/10%)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 balancing techniques to address potential imbalances</a:t>
            </a:r>
          </a:p>
          <a:p>
            <a:pPr marL="0" marR="0" lvl="0" indent="0" algn="l" defTabSz="914400" rtl="0" eaLnBrk="0" fontAlgn="base" latinLnBrk="0" hangingPunct="0">
              <a:lnSpc>
                <a:spcPct val="100000"/>
              </a:lnSpc>
              <a:spcBef>
                <a:spcPct val="0"/>
              </a:spcBef>
              <a:spcAft>
                <a:spcPct val="0"/>
              </a:spcAft>
              <a:buClrTx/>
              <a:buSzTx/>
              <a:buFontTx/>
              <a:buChar char="•"/>
              <a:tabLst/>
            </a:pPr>
            <a:r>
              <a:rPr lang="en-US" sz="2000" dirty="0">
                <a:latin typeface="Times New Roman" panose="02020603050405020304" pitchFamily="18" charset="0"/>
                <a:cs typeface="Times New Roman" panose="02020603050405020304" pitchFamily="18" charset="0"/>
              </a:rPr>
              <a:t>Custom transforms for specific model architectures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268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39CCD-27B4-CE20-54C1-CC08C503485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9AB463C-85A2-2DCB-85EC-7D9DFD7873BF}"/>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D04D9944-4738-0E24-2B7F-5FAD9CAA682C}"/>
              </a:ext>
            </a:extLst>
          </p:cNvPr>
          <p:cNvPicPr>
            <a:picLocks noChangeAspect="1"/>
          </p:cNvPicPr>
          <p:nvPr/>
        </p:nvPicPr>
        <p:blipFill>
          <a:blip r:embed="rId3"/>
          <a:stretch>
            <a:fillRect/>
          </a:stretch>
        </p:blipFill>
        <p:spPr>
          <a:xfrm>
            <a:off x="231962" y="6016749"/>
            <a:ext cx="1599045" cy="685305"/>
          </a:xfrm>
          <a:prstGeom prst="rect">
            <a:avLst/>
          </a:prstGeom>
        </p:spPr>
      </p:pic>
      <p:sp>
        <p:nvSpPr>
          <p:cNvPr id="4" name="Slide Number Placeholder 3">
            <a:extLst>
              <a:ext uri="{FF2B5EF4-FFF2-40B4-BE49-F238E27FC236}">
                <a16:creationId xmlns:a16="http://schemas.microsoft.com/office/drawing/2014/main" id="{7B673723-8DD2-0474-07BB-907A3A8EBD1F}"/>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2CC493F9-2A3A-7136-B7DB-7A923A0F0BE9}"/>
              </a:ext>
            </a:extLst>
          </p:cNvPr>
          <p:cNvSpPr>
            <a:spLocks noGrp="1"/>
          </p:cNvSpPr>
          <p:nvPr>
            <p:ph type="title"/>
          </p:nvPr>
        </p:nvSpPr>
        <p:spPr>
          <a:xfrm>
            <a:off x="838200" y="365125"/>
            <a:ext cx="10515600" cy="985679"/>
          </a:xfrm>
        </p:spPr>
        <p:txBody>
          <a:bodyPr/>
          <a:lstStyle/>
          <a:p>
            <a:r>
              <a:rPr lang="en-US" b="1">
                <a:solidFill>
                  <a:srgbClr val="079418"/>
                </a:solidFill>
                <a:latin typeface="Times New Roman"/>
                <a:ea typeface="Calibri Light"/>
                <a:cs typeface="Calibri Light"/>
              </a:rPr>
              <a:t>Research design</a:t>
            </a:r>
            <a:r>
              <a:rPr lang="en-US">
                <a:ea typeface="Calibri Light"/>
                <a:cs typeface="Calibri Light"/>
              </a:rPr>
              <a:t> </a:t>
            </a:r>
            <a:endParaRPr lang="en-US"/>
          </a:p>
        </p:txBody>
      </p:sp>
      <p:pic>
        <p:nvPicPr>
          <p:cNvPr id="6" name="Content Placeholder 6">
            <a:extLst>
              <a:ext uri="{FF2B5EF4-FFF2-40B4-BE49-F238E27FC236}">
                <a16:creationId xmlns:a16="http://schemas.microsoft.com/office/drawing/2014/main" id="{B449D408-A9CA-BA7B-4875-DC3AA309E4B4}"/>
              </a:ext>
            </a:extLst>
          </p:cNvPr>
          <p:cNvPicPr>
            <a:picLocks noChangeAspect="1"/>
          </p:cNvPicPr>
          <p:nvPr/>
        </p:nvPicPr>
        <p:blipFill>
          <a:blip r:embed="rId4"/>
          <a:stretch>
            <a:fillRect/>
          </a:stretch>
        </p:blipFill>
        <p:spPr>
          <a:xfrm>
            <a:off x="1931755" y="1258125"/>
            <a:ext cx="6578097" cy="4758624"/>
          </a:xfrm>
          <a:prstGeom prst="rect">
            <a:avLst/>
          </a:prstGeom>
        </p:spPr>
      </p:pic>
    </p:spTree>
    <p:extLst>
      <p:ext uri="{BB962C8B-B14F-4D97-AF65-F5344CB8AC3E}">
        <p14:creationId xmlns:p14="http://schemas.microsoft.com/office/powerpoint/2010/main" val="1913887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B802F-7E99-8631-9B5C-711340F9B000}"/>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9379856-9379-5F33-3EDE-8F63995502B2}"/>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156C6876-A1BD-9A7E-B4F2-0E5FB52E5938}"/>
              </a:ext>
            </a:extLst>
          </p:cNvPr>
          <p:cNvPicPr>
            <a:picLocks noChangeAspect="1"/>
          </p:cNvPicPr>
          <p:nvPr/>
        </p:nvPicPr>
        <p:blipFill>
          <a:blip r:embed="rId3"/>
          <a:stretch>
            <a:fillRect/>
          </a:stretch>
        </p:blipFill>
        <p:spPr>
          <a:xfrm>
            <a:off x="231962" y="6016749"/>
            <a:ext cx="1599045" cy="685305"/>
          </a:xfrm>
          <a:prstGeom prst="rect">
            <a:avLst/>
          </a:prstGeom>
        </p:spPr>
      </p:pic>
      <p:sp>
        <p:nvSpPr>
          <p:cNvPr id="4" name="Slide Number Placeholder 3">
            <a:extLst>
              <a:ext uri="{FF2B5EF4-FFF2-40B4-BE49-F238E27FC236}">
                <a16:creationId xmlns:a16="http://schemas.microsoft.com/office/drawing/2014/main" id="{D2575BE0-32ED-7B57-B765-302D4594B5E8}"/>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371721DE-9CA4-3DED-4437-50E400E0A682}"/>
              </a:ext>
            </a:extLst>
          </p:cNvPr>
          <p:cNvSpPr>
            <a:spLocks noGrp="1"/>
          </p:cNvSpPr>
          <p:nvPr>
            <p:ph type="title"/>
          </p:nvPr>
        </p:nvSpPr>
        <p:spPr/>
        <p:txBody>
          <a:bodyPr>
            <a:normAutofit/>
          </a:bodyPr>
          <a:lstStyle/>
          <a:p>
            <a:r>
              <a:rPr lang="en-US" b="1">
                <a:solidFill>
                  <a:srgbClr val="079418"/>
                </a:solidFill>
                <a:latin typeface="Times New Roman"/>
                <a:ea typeface="Calibri Light"/>
                <a:cs typeface="Calibri Light"/>
              </a:rPr>
              <a:t>Data Analysis and Model Description</a:t>
            </a:r>
          </a:p>
        </p:txBody>
      </p:sp>
      <p:sp>
        <p:nvSpPr>
          <p:cNvPr id="7" name="Rectangle 4">
            <a:extLst>
              <a:ext uri="{FF2B5EF4-FFF2-40B4-BE49-F238E27FC236}">
                <a16:creationId xmlns:a16="http://schemas.microsoft.com/office/drawing/2014/main" id="{0166CB78-1AD0-FB64-8D7B-0EA100A27604}"/>
              </a:ext>
            </a:extLst>
          </p:cNvPr>
          <p:cNvSpPr>
            <a:spLocks noGrp="1" noChangeArrowheads="1"/>
          </p:cNvSpPr>
          <p:nvPr>
            <p:ph idx="1"/>
          </p:nvPr>
        </p:nvSpPr>
        <p:spPr bwMode="auto">
          <a:xfrm>
            <a:off x="1031484" y="1582245"/>
            <a:ext cx="709979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VGG19 with Batch Normalization</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Deep CNN architecture with 19 layers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Batch normalization for training stability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Feature extraction followed by custom classifier head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DenseNet201</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Dense connectivity pattern for improved feature reuse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201 layers with each layer connected to every other layer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Reduces vanishing gradient problem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ResNet50</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Residual connections to address vanishing gradient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50 layers with skip connections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Efficient training of deep networks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15208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04F63-37FF-4FB7-D838-8C7C7E5647D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6FE757D-B428-26E2-C8B8-0C41132335CC}"/>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18456356-6ECD-B701-9E2D-80BC7090F27B}"/>
              </a:ext>
            </a:extLst>
          </p:cNvPr>
          <p:cNvPicPr>
            <a:picLocks noChangeAspect="1"/>
          </p:cNvPicPr>
          <p:nvPr/>
        </p:nvPicPr>
        <p:blipFill>
          <a:blip r:embed="rId3"/>
          <a:stretch>
            <a:fillRect/>
          </a:stretch>
        </p:blipFill>
        <p:spPr>
          <a:xfrm>
            <a:off x="231962" y="6016749"/>
            <a:ext cx="1599045" cy="685305"/>
          </a:xfrm>
          <a:prstGeom prst="rect">
            <a:avLst/>
          </a:prstGeom>
        </p:spPr>
      </p:pic>
      <p:sp>
        <p:nvSpPr>
          <p:cNvPr id="4" name="Slide Number Placeholder 3">
            <a:extLst>
              <a:ext uri="{FF2B5EF4-FFF2-40B4-BE49-F238E27FC236}">
                <a16:creationId xmlns:a16="http://schemas.microsoft.com/office/drawing/2014/main" id="{C4BFE8E4-69A3-3017-19EB-454897325B9B}"/>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12</a:t>
            </a:fld>
            <a:endParaRPr lang="en-US">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0F363E60-4CAF-AD28-4AA4-B397DEABEEBF}"/>
              </a:ext>
            </a:extLst>
          </p:cNvPr>
          <p:cNvSpPr>
            <a:spLocks noGrp="1"/>
          </p:cNvSpPr>
          <p:nvPr>
            <p:ph type="title"/>
          </p:nvPr>
        </p:nvSpPr>
        <p:spPr/>
        <p:txBody>
          <a:bodyPr>
            <a:normAutofit/>
          </a:bodyPr>
          <a:lstStyle/>
          <a:p>
            <a:r>
              <a:rPr lang="en-US" b="1">
                <a:solidFill>
                  <a:srgbClr val="079418"/>
                </a:solidFill>
                <a:latin typeface="Times New Roman"/>
                <a:ea typeface="Calibri Light"/>
                <a:cs typeface="Calibri Light"/>
              </a:rPr>
              <a:t>Data Analysis and Model Description</a:t>
            </a:r>
          </a:p>
        </p:txBody>
      </p:sp>
      <p:sp>
        <p:nvSpPr>
          <p:cNvPr id="3" name="Content Placeholder 2">
            <a:extLst>
              <a:ext uri="{FF2B5EF4-FFF2-40B4-BE49-F238E27FC236}">
                <a16:creationId xmlns:a16="http://schemas.microsoft.com/office/drawing/2014/main" id="{0E6EC518-3D1B-5E9C-9A45-3538DECEABD7}"/>
              </a:ext>
            </a:extLst>
          </p:cNvPr>
          <p:cNvSpPr>
            <a:spLocks noGrp="1" noChangeArrowheads="1"/>
          </p:cNvSpPr>
          <p:nvPr>
            <p:ph idx="1"/>
          </p:nvPr>
        </p:nvSpPr>
        <p:spPr bwMode="auto">
          <a:xfrm>
            <a:off x="1031484" y="2007060"/>
            <a:ext cx="1013610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Inception V3</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Multi-scale processing through parallel convolutions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Efficient computation with dimension reduction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Advanced inception modules </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Vision Transformer (</a:t>
            </a:r>
            <a:r>
              <a:rPr kumimoji="0" lang="en-US" altLang="en-US" sz="1800" b="1" i="0" u="none" strike="noStrike" cap="none" normalizeH="0" baseline="0" dirty="0" err="1">
                <a:ln>
                  <a:noFill/>
                </a:ln>
                <a:solidFill>
                  <a:schemeClr val="tx1"/>
                </a:solidFill>
                <a:effectLst/>
                <a:latin typeface="Arial" panose="020B0604020202020204" pitchFamily="34" charset="0"/>
              </a:rPr>
              <a:t>ViT</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Attention-based approach instead of convolutions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Image patches processed as sequences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Self-attention mechanisms for global context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Stacked Model</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Using </a:t>
            </a:r>
            <a:r>
              <a:rPr lang="en-US" altLang="en-US" sz="1800" dirty="0">
                <a:latin typeface="Arial" panose="020B0604020202020204" pitchFamily="34" charset="0"/>
              </a:rPr>
              <a:t>S</a:t>
            </a:r>
            <a:r>
              <a:rPr kumimoji="0" lang="en-US" altLang="en-US" sz="1800" b="0" i="0" u="none" strike="noStrike" cap="none" normalizeH="0" baseline="0" dirty="0">
                <a:ln>
                  <a:noFill/>
                </a:ln>
                <a:solidFill>
                  <a:schemeClr val="tx1"/>
                </a:solidFill>
                <a:effectLst/>
                <a:latin typeface="Arial" panose="020B0604020202020204" pitchFamily="34" charset="0"/>
              </a:rPr>
              <a:t>tacking we can combine multiple models so that accuracy and reliability gets increased.</a:t>
            </a:r>
          </a:p>
          <a:p>
            <a:pPr eaLnBrk="0" fontAlgn="base" hangingPunct="0">
              <a:lnSpc>
                <a:spcPct val="100000"/>
              </a:lnSpc>
              <a:spcBef>
                <a:spcPct val="0"/>
              </a:spcBef>
              <a:spcAft>
                <a:spcPct val="0"/>
              </a:spcAft>
            </a:pPr>
            <a:r>
              <a:rPr lang="en-US" altLang="en-US" sz="1800" dirty="0">
                <a:latin typeface="Arial" panose="020B0604020202020204" pitchFamily="34" charset="0"/>
              </a:rPr>
              <a:t>We used all the algorithms and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02950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03BC4-D25C-64CA-0ACA-3B14B231A5E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2237B45-DE04-6FC2-9A3C-FD9FE970041F}"/>
              </a:ext>
            </a:extLst>
          </p:cNvPr>
          <p:cNvPicPr>
            <a:picLocks noChangeAspect="1"/>
          </p:cNvPicPr>
          <p:nvPr/>
        </p:nvPicPr>
        <p:blipFill>
          <a:blip r:embed="rId3"/>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F5B083B3-3A1A-75D7-5541-DBB9E666B8FA}"/>
              </a:ext>
            </a:extLst>
          </p:cNvPr>
          <p:cNvPicPr>
            <a:picLocks noChangeAspect="1"/>
          </p:cNvPicPr>
          <p:nvPr/>
        </p:nvPicPr>
        <p:blipFill>
          <a:blip r:embed="rId4"/>
          <a:stretch>
            <a:fillRect/>
          </a:stretch>
        </p:blipFill>
        <p:spPr>
          <a:xfrm>
            <a:off x="231962" y="6016749"/>
            <a:ext cx="1599045" cy="685305"/>
          </a:xfrm>
          <a:prstGeom prst="rect">
            <a:avLst/>
          </a:prstGeom>
        </p:spPr>
      </p:pic>
      <p:sp>
        <p:nvSpPr>
          <p:cNvPr id="4" name="Slide Number Placeholder 3">
            <a:extLst>
              <a:ext uri="{FF2B5EF4-FFF2-40B4-BE49-F238E27FC236}">
                <a16:creationId xmlns:a16="http://schemas.microsoft.com/office/drawing/2014/main" id="{89A87BC5-4C1A-A4D5-1BC2-6C7209F9E296}"/>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13</a:t>
            </a:fld>
            <a:endParaRPr lang="en-US">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92BD22AB-8DCF-BEBB-C213-BC925662BA90}"/>
              </a:ext>
            </a:extLst>
          </p:cNvPr>
          <p:cNvSpPr>
            <a:spLocks noGrp="1"/>
          </p:cNvSpPr>
          <p:nvPr>
            <p:ph type="title"/>
          </p:nvPr>
        </p:nvSpPr>
        <p:spPr>
          <a:xfrm>
            <a:off x="838200" y="365125"/>
            <a:ext cx="10515600" cy="713465"/>
          </a:xfrm>
        </p:spPr>
        <p:txBody>
          <a:bodyPr/>
          <a:lstStyle/>
          <a:p>
            <a:r>
              <a:rPr lang="en-US" b="1">
                <a:solidFill>
                  <a:srgbClr val="079418"/>
                </a:solidFill>
                <a:latin typeface="Times New Roman"/>
                <a:ea typeface="Calibri Light"/>
                <a:cs typeface="Calibri Light"/>
              </a:rPr>
              <a:t>Data Visualization and Results</a:t>
            </a:r>
            <a:endParaRPr lang="en-US">
              <a:solidFill>
                <a:srgbClr val="079418"/>
              </a:solidFill>
              <a:latin typeface="Times New Roman"/>
              <a:cs typeface="Times New Roman"/>
            </a:endParaRPr>
          </a:p>
        </p:txBody>
      </p:sp>
      <p:pic>
        <p:nvPicPr>
          <p:cNvPr id="3" name="Content Placeholder 2">
            <a:extLst>
              <a:ext uri="{FF2B5EF4-FFF2-40B4-BE49-F238E27FC236}">
                <a16:creationId xmlns:a16="http://schemas.microsoft.com/office/drawing/2014/main" id="{50C12F56-14AC-278E-B34F-A8656321789C}"/>
              </a:ext>
            </a:extLst>
          </p:cNvPr>
          <p:cNvPicPr>
            <a:picLocks noGrp="1" noChangeAspect="1"/>
          </p:cNvPicPr>
          <p:nvPr>
            <p:ph idx="1"/>
          </p:nvPr>
        </p:nvPicPr>
        <p:blipFill>
          <a:blip r:embed="rId5"/>
          <a:stretch>
            <a:fillRect/>
          </a:stretch>
        </p:blipFill>
        <p:spPr>
          <a:xfrm>
            <a:off x="1015752" y="1824851"/>
            <a:ext cx="6340389" cy="3208298"/>
          </a:xfrm>
        </p:spPr>
      </p:pic>
      <p:pic>
        <p:nvPicPr>
          <p:cNvPr id="10" name="Picture 9">
            <a:extLst>
              <a:ext uri="{FF2B5EF4-FFF2-40B4-BE49-F238E27FC236}">
                <a16:creationId xmlns:a16="http://schemas.microsoft.com/office/drawing/2014/main" id="{CDAF9E89-B330-8C54-8D27-5453E04FFA5C}"/>
              </a:ext>
            </a:extLst>
          </p:cNvPr>
          <p:cNvPicPr>
            <a:picLocks noChangeAspect="1"/>
          </p:cNvPicPr>
          <p:nvPr/>
        </p:nvPicPr>
        <p:blipFill>
          <a:blip r:embed="rId6"/>
          <a:stretch>
            <a:fillRect/>
          </a:stretch>
        </p:blipFill>
        <p:spPr>
          <a:xfrm>
            <a:off x="7224061" y="1695123"/>
            <a:ext cx="4967939" cy="3579464"/>
          </a:xfrm>
          <a:prstGeom prst="rect">
            <a:avLst/>
          </a:prstGeom>
        </p:spPr>
      </p:pic>
    </p:spTree>
    <p:extLst>
      <p:ext uri="{BB962C8B-B14F-4D97-AF65-F5344CB8AC3E}">
        <p14:creationId xmlns:p14="http://schemas.microsoft.com/office/powerpoint/2010/main" val="508940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80299-F154-C2F5-4F78-5FAB70824ED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50878D3-C6F8-8B9E-30C9-466971A5D082}"/>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A58D078E-9B2F-560E-F027-F91C8A3C0C53}"/>
              </a:ext>
            </a:extLst>
          </p:cNvPr>
          <p:cNvPicPr>
            <a:picLocks noChangeAspect="1"/>
          </p:cNvPicPr>
          <p:nvPr/>
        </p:nvPicPr>
        <p:blipFill>
          <a:blip r:embed="rId3"/>
          <a:stretch>
            <a:fillRect/>
          </a:stretch>
        </p:blipFill>
        <p:spPr>
          <a:xfrm>
            <a:off x="231962" y="6016749"/>
            <a:ext cx="1599045" cy="685305"/>
          </a:xfrm>
          <a:prstGeom prst="rect">
            <a:avLst/>
          </a:prstGeom>
        </p:spPr>
      </p:pic>
      <p:sp>
        <p:nvSpPr>
          <p:cNvPr id="4" name="Slide Number Placeholder 3">
            <a:extLst>
              <a:ext uri="{FF2B5EF4-FFF2-40B4-BE49-F238E27FC236}">
                <a16:creationId xmlns:a16="http://schemas.microsoft.com/office/drawing/2014/main" id="{7C950A67-EEB6-91B4-D539-B6C4A15F63AF}"/>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14</a:t>
            </a:fld>
            <a:endParaRPr lang="en-US">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5D08E8D0-E342-AAF0-DDD3-F9E4619A9D76}"/>
              </a:ext>
            </a:extLst>
          </p:cNvPr>
          <p:cNvSpPr>
            <a:spLocks noGrp="1"/>
          </p:cNvSpPr>
          <p:nvPr>
            <p:ph type="title"/>
          </p:nvPr>
        </p:nvSpPr>
        <p:spPr>
          <a:xfrm>
            <a:off x="838200" y="365125"/>
            <a:ext cx="10515600" cy="713465"/>
          </a:xfrm>
        </p:spPr>
        <p:txBody>
          <a:bodyPr/>
          <a:lstStyle/>
          <a:p>
            <a:r>
              <a:rPr lang="en-US" b="1">
                <a:solidFill>
                  <a:srgbClr val="079418"/>
                </a:solidFill>
                <a:latin typeface="Times New Roman"/>
                <a:ea typeface="Calibri Light"/>
                <a:cs typeface="Calibri Light"/>
              </a:rPr>
              <a:t>Data Visualization and Results</a:t>
            </a:r>
            <a:endParaRPr lang="en-US">
              <a:solidFill>
                <a:srgbClr val="079418"/>
              </a:solidFill>
              <a:latin typeface="Times New Roman"/>
              <a:cs typeface="Times New Roman"/>
            </a:endParaRPr>
          </a:p>
        </p:txBody>
      </p:sp>
      <p:pic>
        <p:nvPicPr>
          <p:cNvPr id="8" name="Picture 7">
            <a:extLst>
              <a:ext uri="{FF2B5EF4-FFF2-40B4-BE49-F238E27FC236}">
                <a16:creationId xmlns:a16="http://schemas.microsoft.com/office/drawing/2014/main" id="{AEB14D52-8D19-BC50-B90C-40506DE8368F}"/>
              </a:ext>
            </a:extLst>
          </p:cNvPr>
          <p:cNvPicPr>
            <a:picLocks noChangeAspect="1"/>
          </p:cNvPicPr>
          <p:nvPr/>
        </p:nvPicPr>
        <p:blipFill>
          <a:blip r:embed="rId4"/>
          <a:stretch>
            <a:fillRect/>
          </a:stretch>
        </p:blipFill>
        <p:spPr>
          <a:xfrm>
            <a:off x="1031484" y="2147282"/>
            <a:ext cx="6832088" cy="3386078"/>
          </a:xfrm>
          <a:prstGeom prst="rect">
            <a:avLst/>
          </a:prstGeom>
        </p:spPr>
      </p:pic>
      <p:sp>
        <p:nvSpPr>
          <p:cNvPr id="6" name="Content Placeholder 5">
            <a:extLst>
              <a:ext uri="{FF2B5EF4-FFF2-40B4-BE49-F238E27FC236}">
                <a16:creationId xmlns:a16="http://schemas.microsoft.com/office/drawing/2014/main" id="{EE66FB93-BD08-39AD-AAD7-8661B1F44AC2}"/>
              </a:ext>
            </a:extLst>
          </p:cNvPr>
          <p:cNvSpPr>
            <a:spLocks noGrp="1"/>
          </p:cNvSpPr>
          <p:nvPr>
            <p:ph idx="1"/>
          </p:nvPr>
        </p:nvSpPr>
        <p:spPr>
          <a:xfrm>
            <a:off x="838200" y="1503680"/>
            <a:ext cx="10515600" cy="4673283"/>
          </a:xfrm>
        </p:spPr>
        <p:txBody>
          <a:bodyPr>
            <a:normAutofit/>
          </a:bodyPr>
          <a:lstStyle/>
          <a:p>
            <a:r>
              <a:rPr lang="en-US" dirty="0">
                <a:latin typeface="Times New Roman" panose="02020603050405020304" pitchFamily="18" charset="0"/>
                <a:cs typeface="Times New Roman" panose="02020603050405020304" pitchFamily="18" charset="0"/>
              </a:rPr>
              <a:t>Comparison of various models</a:t>
            </a:r>
          </a:p>
        </p:txBody>
      </p:sp>
    </p:spTree>
    <p:extLst>
      <p:ext uri="{BB962C8B-B14F-4D97-AF65-F5344CB8AC3E}">
        <p14:creationId xmlns:p14="http://schemas.microsoft.com/office/powerpoint/2010/main" val="307046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D3F18-D312-60B7-EC76-61A77B3EA7C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F3B12C2-6E56-61DC-7DF1-B0804919CA07}"/>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8076C093-32B8-5B8E-4708-99CFC2A4A0D1}"/>
              </a:ext>
            </a:extLst>
          </p:cNvPr>
          <p:cNvPicPr>
            <a:picLocks noChangeAspect="1"/>
          </p:cNvPicPr>
          <p:nvPr/>
        </p:nvPicPr>
        <p:blipFill>
          <a:blip r:embed="rId3"/>
          <a:stretch>
            <a:fillRect/>
          </a:stretch>
        </p:blipFill>
        <p:spPr>
          <a:xfrm>
            <a:off x="231962" y="6016749"/>
            <a:ext cx="1599045" cy="685305"/>
          </a:xfrm>
          <a:prstGeom prst="rect">
            <a:avLst/>
          </a:prstGeom>
        </p:spPr>
      </p:pic>
      <p:sp>
        <p:nvSpPr>
          <p:cNvPr id="4" name="Slide Number Placeholder 3">
            <a:extLst>
              <a:ext uri="{FF2B5EF4-FFF2-40B4-BE49-F238E27FC236}">
                <a16:creationId xmlns:a16="http://schemas.microsoft.com/office/drawing/2014/main" id="{C23A43A1-2822-7532-4C15-810B61A66047}"/>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15</a:t>
            </a:fld>
            <a:endParaRPr lang="en-US">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1140FF5C-C03D-3712-72C8-51EE2111F49A}"/>
              </a:ext>
            </a:extLst>
          </p:cNvPr>
          <p:cNvSpPr>
            <a:spLocks noGrp="1"/>
          </p:cNvSpPr>
          <p:nvPr>
            <p:ph type="title"/>
          </p:nvPr>
        </p:nvSpPr>
        <p:spPr/>
        <p:txBody>
          <a:bodyPr/>
          <a:lstStyle/>
          <a:p>
            <a:r>
              <a:rPr lang="en-US" b="1" dirty="0">
                <a:solidFill>
                  <a:srgbClr val="079418"/>
                </a:solidFill>
                <a:latin typeface="Times New Roman"/>
                <a:ea typeface="Calibri Light"/>
                <a:cs typeface="Calibri Light"/>
              </a:rPr>
              <a:t>Conclusion</a:t>
            </a:r>
            <a:endParaRPr lang="en-US" b="1" dirty="0">
              <a:solidFill>
                <a:srgbClr val="079418"/>
              </a:solidFill>
              <a:latin typeface="Times New Roman"/>
              <a:cs typeface="Times New Roman"/>
            </a:endParaRPr>
          </a:p>
        </p:txBody>
      </p:sp>
      <p:sp>
        <p:nvSpPr>
          <p:cNvPr id="2" name="Content Placeholder 1">
            <a:extLst>
              <a:ext uri="{FF2B5EF4-FFF2-40B4-BE49-F238E27FC236}">
                <a16:creationId xmlns:a16="http://schemas.microsoft.com/office/drawing/2014/main" id="{173F1D03-A34F-C431-BA69-9074A7A186B1}"/>
              </a:ext>
            </a:extLst>
          </p:cNvPr>
          <p:cNvSpPr>
            <a:spLocks noGrp="1" noChangeArrowheads="1"/>
          </p:cNvSpPr>
          <p:nvPr>
            <p:ph idx="1"/>
          </p:nvPr>
        </p:nvSpPr>
        <p:spPr bwMode="auto">
          <a:xfrm>
            <a:off x="604520" y="1873389"/>
            <a:ext cx="1125083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Our stacking ensemble approach successfully combines multiple deep learning models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(VGG19, DenseNet201, ResNet50, etc.)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Arial" panose="020B0604020202020204" pitchFamily="34" charset="0"/>
              </a:rPr>
              <a:t>T</a:t>
            </a:r>
            <a:r>
              <a:rPr kumimoji="0" lang="en-US" altLang="en-US" sz="1800" b="0" i="0" u="none" strike="noStrike" cap="none" normalizeH="0" baseline="0" dirty="0">
                <a:ln>
                  <a:noFill/>
                </a:ln>
                <a:solidFill>
                  <a:schemeClr val="tx1"/>
                </a:solidFill>
                <a:effectLst/>
                <a:latin typeface="Arial" panose="020B0604020202020204" pitchFamily="34" charset="0"/>
              </a:rPr>
              <a:t>o achieve superior cancer cell classification performance over single-model approaches.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two-stage training methodology significantly enhances performance through transfer learning,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with initial feature extraction followed by fine-tuning.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meta-classifier effectively learns to weight predictions from all models, resulting in better generalization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across unseen test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Integration of explainability tools makes the deep learning models more interpretable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for medical professionals, addressing a key requirement for clinical adoption.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Arial" panose="020B0604020202020204" pitchFamily="34" charset="0"/>
              </a:rPr>
              <a:t>Our stacking model gives the better </a:t>
            </a:r>
            <a:r>
              <a:rPr lang="en-US" altLang="en-US" sz="1800" dirty="0" err="1">
                <a:latin typeface="Arial" panose="020B0604020202020204" pitchFamily="34" charset="0"/>
              </a:rPr>
              <a:t>Accuarcy</a:t>
            </a:r>
            <a:r>
              <a:rPr lang="en-US" altLang="en-US" sz="1800" dirty="0">
                <a:latin typeface="Arial" panose="020B0604020202020204" pitchFamily="34" charset="0"/>
              </a:rPr>
              <a:t> then the individual models in blood cell cancer classification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65824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0C8D0-253D-43DE-E976-F4190BC8B00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DCA9FD1-24C3-468A-A9E6-70A3397855A6}"/>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4E88197F-8CC6-E9B5-B114-EF4B9FADED22}"/>
              </a:ext>
            </a:extLst>
          </p:cNvPr>
          <p:cNvPicPr>
            <a:picLocks noChangeAspect="1"/>
          </p:cNvPicPr>
          <p:nvPr/>
        </p:nvPicPr>
        <p:blipFill>
          <a:blip r:embed="rId3"/>
          <a:stretch>
            <a:fillRect/>
          </a:stretch>
        </p:blipFill>
        <p:spPr>
          <a:xfrm>
            <a:off x="231962" y="6016749"/>
            <a:ext cx="1599045" cy="685305"/>
          </a:xfrm>
          <a:prstGeom prst="rect">
            <a:avLst/>
          </a:prstGeom>
        </p:spPr>
      </p:pic>
      <p:sp>
        <p:nvSpPr>
          <p:cNvPr id="4" name="Slide Number Placeholder 3">
            <a:extLst>
              <a:ext uri="{FF2B5EF4-FFF2-40B4-BE49-F238E27FC236}">
                <a16:creationId xmlns:a16="http://schemas.microsoft.com/office/drawing/2014/main" id="{116C0BEE-E8BB-E7CF-1F85-DA148E663AC8}"/>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16</a:t>
            </a:fld>
            <a:endParaRPr lang="en-US">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DF943915-944E-0F73-4FED-36DAA965CDB8}"/>
              </a:ext>
            </a:extLst>
          </p:cNvPr>
          <p:cNvSpPr>
            <a:spLocks noGrp="1"/>
          </p:cNvSpPr>
          <p:nvPr>
            <p:ph type="title"/>
          </p:nvPr>
        </p:nvSpPr>
        <p:spPr>
          <a:xfrm>
            <a:off x="560439" y="-27913"/>
            <a:ext cx="10515600" cy="1325563"/>
          </a:xfrm>
        </p:spPr>
        <p:txBody>
          <a:bodyPr/>
          <a:lstStyle/>
          <a:p>
            <a:r>
              <a:rPr lang="en-US" b="1" dirty="0">
                <a:solidFill>
                  <a:srgbClr val="079418"/>
                </a:solidFill>
                <a:latin typeface="Times New Roman"/>
                <a:ea typeface="Calibri Light"/>
                <a:cs typeface="Calibri Light"/>
              </a:rPr>
              <a:t>References</a:t>
            </a:r>
            <a:endParaRPr lang="en-US" b="1" dirty="0">
              <a:solidFill>
                <a:srgbClr val="079418"/>
              </a:solidFill>
              <a:latin typeface="Times New Roman"/>
              <a:cs typeface="Times New Roman"/>
            </a:endParaRPr>
          </a:p>
        </p:txBody>
      </p:sp>
      <p:sp>
        <p:nvSpPr>
          <p:cNvPr id="3" name="TextBox 2">
            <a:extLst>
              <a:ext uri="{FF2B5EF4-FFF2-40B4-BE49-F238E27FC236}">
                <a16:creationId xmlns:a16="http://schemas.microsoft.com/office/drawing/2014/main" id="{1DD1439D-DA05-6797-1327-6CC74F56EC42}"/>
              </a:ext>
            </a:extLst>
          </p:cNvPr>
          <p:cNvSpPr txBox="1"/>
          <p:nvPr/>
        </p:nvSpPr>
        <p:spPr>
          <a:xfrm>
            <a:off x="422788" y="1030343"/>
            <a:ext cx="9969909" cy="529375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Ahad, M. T., Payel, I. J., Song, B., &amp; Li, Y. (2024). DVS: Blood cancer detection using novel CNN-based ensemble approach. </a:t>
            </a:r>
            <a:r>
              <a:rPr lang="en-US" sz="1600" dirty="0" err="1">
                <a:latin typeface="Times New Roman" panose="02020603050405020304" pitchFamily="18" charset="0"/>
                <a:cs typeface="Times New Roman" panose="02020603050405020304" pitchFamily="18" charset="0"/>
              </a:rPr>
              <a:t>arXiv</a:t>
            </a:r>
            <a:r>
              <a:rPr lang="en-US" sz="1600" dirty="0">
                <a:latin typeface="Times New Roman" panose="02020603050405020304" pitchFamily="18" charset="0"/>
                <a:cs typeface="Times New Roman" panose="02020603050405020304" pitchFamily="18" charset="0"/>
              </a:rPr>
              <a:t> preprint arXiv:2410.05272. </a:t>
            </a:r>
            <a:r>
              <a:rPr lang="en-US" sz="1600" dirty="0">
                <a:latin typeface="Times New Roman" panose="02020603050405020304" pitchFamily="18" charset="0"/>
                <a:cs typeface="Times New Roman" panose="02020603050405020304" pitchFamily="18" charset="0"/>
                <a:hlinkClick r:id="rId4"/>
              </a:rPr>
              <a:t>https://arxiv.org/abs/2410.05272</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Dabeer</a:t>
            </a:r>
            <a:r>
              <a:rPr lang="en-US" sz="1600" dirty="0">
                <a:latin typeface="Times New Roman" panose="02020603050405020304" pitchFamily="18" charset="0"/>
                <a:cs typeface="Times New Roman" panose="02020603050405020304" pitchFamily="18" charset="0"/>
              </a:rPr>
              <a:t>, S., Khan, M. M., &amp; Islam, S. (2019). Cancer diagnosis in histopathological image: CNN based approach. Informatics in Medicine Unlocked, 16, 100231. </a:t>
            </a:r>
            <a:r>
              <a:rPr lang="en-US" sz="1600" dirty="0">
                <a:latin typeface="Times New Roman" panose="02020603050405020304" pitchFamily="18" charset="0"/>
                <a:cs typeface="Times New Roman" panose="02020603050405020304" pitchFamily="18" charset="0"/>
                <a:hlinkClick r:id="rId5"/>
              </a:rPr>
              <a:t>https://doi.org/10.1016/j.imu.2019.100231</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Md </a:t>
            </a:r>
            <a:r>
              <a:rPr lang="en-US" sz="1600" dirty="0" err="1">
                <a:latin typeface="Times New Roman" panose="02020603050405020304" pitchFamily="18" charset="0"/>
                <a:cs typeface="Times New Roman" panose="02020603050405020304" pitchFamily="18" charset="0"/>
              </a:rPr>
              <a:t>Muttakin</a:t>
            </a:r>
            <a:r>
              <a:rPr lang="en-US" sz="1600" dirty="0">
                <a:latin typeface="Times New Roman" panose="02020603050405020304" pitchFamily="18" charset="0"/>
                <a:cs typeface="Times New Roman" panose="02020603050405020304" pitchFamily="18" charset="0"/>
              </a:rPr>
              <a:t>, G. K., Yesmin, F., Alam, S. S., Ashraf, M. S., </a:t>
            </a:r>
            <a:r>
              <a:rPr lang="en-US" sz="1600" dirty="0" err="1">
                <a:latin typeface="Times New Roman" panose="02020603050405020304" pitchFamily="18" charset="0"/>
                <a:cs typeface="Times New Roman" panose="02020603050405020304" pitchFamily="18" charset="0"/>
              </a:rPr>
              <a:t>Akuthota</a:t>
            </a:r>
            <a:r>
              <a:rPr lang="en-US" sz="1600" dirty="0">
                <a:latin typeface="Times New Roman" panose="02020603050405020304" pitchFamily="18" charset="0"/>
                <a:cs typeface="Times New Roman" panose="02020603050405020304" pitchFamily="18" charset="0"/>
              </a:rPr>
              <a:t>, V., &amp; Abdul Quader, M. (2024). Comparative analysis of diverse architectures for accurate blood cancer cell classification. In 2024 International Conference on Computer, Electrical &amp; Communication Engineering (ICCECE) (pp. 1–6). IEEE. </a:t>
            </a:r>
            <a:r>
              <a:rPr lang="en-US" sz="1600" dirty="0">
                <a:latin typeface="Times New Roman" panose="02020603050405020304" pitchFamily="18" charset="0"/>
                <a:cs typeface="Times New Roman" panose="02020603050405020304" pitchFamily="18" charset="0"/>
                <a:hlinkClick r:id="rId6"/>
              </a:rPr>
              <a:t>https://doi.org/10.1109/ICCECE58615.2024.10476519</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Zhou, T., Ye, X., Lu, H., Zheng, X., Qiu, S., &amp; Liu, Y. (2022). Dense convolutional network and its application in medical image analysis. BioMed Research International, 2022(1), 2384830. </a:t>
            </a:r>
            <a:r>
              <a:rPr lang="en-US" sz="1600" dirty="0">
                <a:latin typeface="Times New Roman" panose="02020603050405020304" pitchFamily="18" charset="0"/>
                <a:cs typeface="Times New Roman" panose="02020603050405020304" pitchFamily="18" charset="0"/>
                <a:hlinkClick r:id="rId7"/>
              </a:rPr>
              <a:t>https://doi.org/10.1155/2022/2384830</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Jain, A., &amp; Virmani, J. (2025). Deep CNN ensemble model for acute lymphoblastic leukemia detection. </a:t>
            </a:r>
            <a:r>
              <a:rPr lang="en-US" sz="1600" dirty="0" err="1">
                <a:latin typeface="Times New Roman" panose="02020603050405020304" pitchFamily="18" charset="0"/>
                <a:cs typeface="Times New Roman" panose="02020603050405020304" pitchFamily="18" charset="0"/>
              </a:rPr>
              <a:t>arXiv</a:t>
            </a:r>
            <a:r>
              <a:rPr lang="en-US" sz="1600" dirty="0">
                <a:latin typeface="Times New Roman" panose="02020603050405020304" pitchFamily="18" charset="0"/>
                <a:cs typeface="Times New Roman" panose="02020603050405020304" pitchFamily="18" charset="0"/>
              </a:rPr>
              <a:t> preprint arXiv:2502.09804. </a:t>
            </a:r>
            <a:r>
              <a:rPr lang="en-US" sz="1600" dirty="0">
                <a:latin typeface="Times New Roman" panose="02020603050405020304" pitchFamily="18" charset="0"/>
                <a:cs typeface="Times New Roman" panose="02020603050405020304" pitchFamily="18" charset="0"/>
                <a:hlinkClick r:id="rId8"/>
              </a:rPr>
              <a:t>https://arxiv.org/abs/2502.09804</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Hosseini, S. A., &amp; Khosravi, A. (2025). Hybrid feature fusion and uncertainty quantification for leukemia detection using ensemble GRU-CNN models. </a:t>
            </a:r>
            <a:r>
              <a:rPr lang="en-US" sz="1600" dirty="0" err="1">
                <a:latin typeface="Times New Roman" panose="02020603050405020304" pitchFamily="18" charset="0"/>
                <a:cs typeface="Times New Roman" panose="02020603050405020304" pitchFamily="18" charset="0"/>
              </a:rPr>
              <a:t>arXiv</a:t>
            </a:r>
            <a:r>
              <a:rPr lang="en-US" sz="1600" dirty="0">
                <a:latin typeface="Times New Roman" panose="02020603050405020304" pitchFamily="18" charset="0"/>
                <a:cs typeface="Times New Roman" panose="02020603050405020304" pitchFamily="18" charset="0"/>
              </a:rPr>
              <a:t> preprint arXiv:2410.14536. </a:t>
            </a:r>
            <a:r>
              <a:rPr lang="en-US" sz="1600" dirty="0">
                <a:latin typeface="Times New Roman" panose="02020603050405020304" pitchFamily="18" charset="0"/>
                <a:cs typeface="Times New Roman" panose="02020603050405020304" pitchFamily="18" charset="0"/>
                <a:hlinkClick r:id="rId9"/>
              </a:rPr>
              <a:t>https://arxiv.org/abs/2410.14536</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Dutta, S., &amp; Dutta, T. (2025). Gompertz function-based ensemble learning for microscopic leukemia classification. Applied Soft Computing, 141, 110331. </a:t>
            </a:r>
            <a:r>
              <a:rPr lang="en-US" sz="1600" dirty="0">
                <a:latin typeface="Times New Roman" panose="02020603050405020304" pitchFamily="18" charset="0"/>
                <a:cs typeface="Times New Roman" panose="02020603050405020304" pitchFamily="18" charset="0"/>
                <a:hlinkClick r:id="rId10"/>
              </a:rPr>
              <a:t>https://doi.org/10.1016/j.asoc.2024.110331</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Najeeb, A., Ashiq, A., &amp; Naseer, M. (2025). Clinical-grade hybrid and ensemble deep learning models for leukemia diagnosis. In Proceedings of the 2025 ACM International Conference on Health Informatics (pp. 45–52). ACM. </a:t>
            </a:r>
            <a:r>
              <a:rPr lang="en-US" sz="1600" dirty="0">
                <a:latin typeface="Times New Roman" panose="02020603050405020304" pitchFamily="18" charset="0"/>
                <a:cs typeface="Times New Roman" panose="02020603050405020304" pitchFamily="18" charset="0"/>
                <a:hlinkClick r:id="rId11"/>
              </a:rPr>
              <a:t>https://doi.org/10.1145/3578741.3578770</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57048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F402B760-09FB-7348-8C67-DCAC88C6CBC2}"/>
              </a:ext>
            </a:extLst>
          </p:cNvPr>
          <p:cNvSpPr/>
          <p:nvPr/>
        </p:nvSpPr>
        <p:spPr>
          <a:xfrm>
            <a:off x="8076008" y="1039839"/>
            <a:ext cx="3457401" cy="3457401"/>
          </a:xfrm>
          <a:prstGeom prst="ellipse">
            <a:avLst/>
          </a:prstGeom>
          <a:solidFill>
            <a:srgbClr val="74C42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a:endParaRPr lang="en-US" sz="1500">
              <a:ln w="0"/>
              <a:solidFill>
                <a:schemeClr val="bg1"/>
              </a:solidFill>
              <a:effectLst>
                <a:outerShdw blurRad="38100" dist="19050" dir="2700000" algn="tl" rotWithShape="0">
                  <a:schemeClr val="dk1">
                    <a:alpha val="40000"/>
                  </a:schemeClr>
                </a:outerShdw>
              </a:effectLst>
            </a:endParaRPr>
          </a:p>
        </p:txBody>
      </p:sp>
      <p:sp>
        <p:nvSpPr>
          <p:cNvPr id="21" name="Oval 20">
            <a:extLst>
              <a:ext uri="{FF2B5EF4-FFF2-40B4-BE49-F238E27FC236}">
                <a16:creationId xmlns:a16="http://schemas.microsoft.com/office/drawing/2014/main" id="{10A4EF44-D1A3-E14E-BB09-389A47FCDC48}"/>
              </a:ext>
            </a:extLst>
          </p:cNvPr>
          <p:cNvSpPr/>
          <p:nvPr/>
        </p:nvSpPr>
        <p:spPr>
          <a:xfrm>
            <a:off x="6124379" y="1774456"/>
            <a:ext cx="2496674" cy="2496674"/>
          </a:xfrm>
          <a:prstGeom prst="ellipse">
            <a:avLst/>
          </a:prstGeom>
          <a:solidFill>
            <a:srgbClr val="007B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a:endParaRPr lang="en-US" sz="1300">
              <a:ln w="0"/>
              <a:solidFill>
                <a:schemeClr val="bg1"/>
              </a:solidFill>
              <a:effectLst>
                <a:outerShdw blurRad="38100" dist="19050" dir="2700000" algn="tl" rotWithShape="0">
                  <a:schemeClr val="dk1">
                    <a:alpha val="40000"/>
                  </a:schemeClr>
                </a:outerShdw>
              </a:effectLst>
            </a:endParaRPr>
          </a:p>
        </p:txBody>
      </p:sp>
      <p:sp>
        <p:nvSpPr>
          <p:cNvPr id="22" name="Oval 21">
            <a:extLst>
              <a:ext uri="{FF2B5EF4-FFF2-40B4-BE49-F238E27FC236}">
                <a16:creationId xmlns:a16="http://schemas.microsoft.com/office/drawing/2014/main" id="{683A2ACE-0D5E-384B-9A6E-674AEC575B68}"/>
              </a:ext>
            </a:extLst>
          </p:cNvPr>
          <p:cNvSpPr/>
          <p:nvPr/>
        </p:nvSpPr>
        <p:spPr>
          <a:xfrm>
            <a:off x="7512922" y="3762622"/>
            <a:ext cx="1946630" cy="1946630"/>
          </a:xfrm>
          <a:prstGeom prst="ellipse">
            <a:avLst/>
          </a:prstGeom>
          <a:solidFill>
            <a:srgbClr val="00A65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a:endParaRPr lang="en-US" sz="1300">
              <a:ln w="0"/>
              <a:solidFill>
                <a:schemeClr val="bg1"/>
              </a:solidFill>
              <a:effectLst>
                <a:outerShdw blurRad="38100" dist="19050" dir="2700000" algn="tl" rotWithShape="0">
                  <a:schemeClr val="dk1">
                    <a:alpha val="40000"/>
                  </a:schemeClr>
                </a:outerShdw>
              </a:effectLst>
            </a:endParaRPr>
          </a:p>
        </p:txBody>
      </p:sp>
      <p:pic>
        <p:nvPicPr>
          <p:cNvPr id="24" name="Picture 23">
            <a:extLst>
              <a:ext uri="{FF2B5EF4-FFF2-40B4-BE49-F238E27FC236}">
                <a16:creationId xmlns:a16="http://schemas.microsoft.com/office/drawing/2014/main" id="{FB2AF749-8A90-084D-9E88-6F607893C5B7}"/>
              </a:ext>
            </a:extLst>
          </p:cNvPr>
          <p:cNvPicPr>
            <a:picLocks noChangeAspect="1"/>
          </p:cNvPicPr>
          <p:nvPr/>
        </p:nvPicPr>
        <p:blipFill>
          <a:blip r:embed="rId2"/>
          <a:stretch>
            <a:fillRect/>
          </a:stretch>
        </p:blipFill>
        <p:spPr>
          <a:xfrm>
            <a:off x="9384903" y="1310738"/>
            <a:ext cx="839610" cy="927436"/>
          </a:xfrm>
          <a:prstGeom prst="rect">
            <a:avLst/>
          </a:prstGeom>
        </p:spPr>
      </p:pic>
      <p:pic>
        <p:nvPicPr>
          <p:cNvPr id="25" name="Picture 24">
            <a:extLst>
              <a:ext uri="{FF2B5EF4-FFF2-40B4-BE49-F238E27FC236}">
                <a16:creationId xmlns:a16="http://schemas.microsoft.com/office/drawing/2014/main" id="{A9675027-528B-EB43-A286-5E8E73779BB3}"/>
              </a:ext>
            </a:extLst>
          </p:cNvPr>
          <p:cNvPicPr>
            <a:picLocks noChangeAspect="1"/>
          </p:cNvPicPr>
          <p:nvPr/>
        </p:nvPicPr>
        <p:blipFill>
          <a:blip r:embed="rId2"/>
          <a:stretch>
            <a:fillRect/>
          </a:stretch>
        </p:blipFill>
        <p:spPr>
          <a:xfrm>
            <a:off x="7026259" y="2179707"/>
            <a:ext cx="608650" cy="672317"/>
          </a:xfrm>
          <a:prstGeom prst="rect">
            <a:avLst/>
          </a:prstGeom>
        </p:spPr>
      </p:pic>
      <p:pic>
        <p:nvPicPr>
          <p:cNvPr id="26" name="Picture 25">
            <a:extLst>
              <a:ext uri="{FF2B5EF4-FFF2-40B4-BE49-F238E27FC236}">
                <a16:creationId xmlns:a16="http://schemas.microsoft.com/office/drawing/2014/main" id="{FCBEC96E-9508-B645-BDEB-A15BFDD9BA90}"/>
              </a:ext>
            </a:extLst>
          </p:cNvPr>
          <p:cNvPicPr>
            <a:picLocks noChangeAspect="1"/>
          </p:cNvPicPr>
          <p:nvPr/>
        </p:nvPicPr>
        <p:blipFill>
          <a:blip r:embed="rId2"/>
          <a:stretch>
            <a:fillRect/>
          </a:stretch>
        </p:blipFill>
        <p:spPr>
          <a:xfrm>
            <a:off x="8262513" y="4071080"/>
            <a:ext cx="447447" cy="494252"/>
          </a:xfrm>
          <a:prstGeom prst="rect">
            <a:avLst/>
          </a:prstGeom>
        </p:spPr>
      </p:pic>
      <p:pic>
        <p:nvPicPr>
          <p:cNvPr id="12" name="Picture 11">
            <a:extLst>
              <a:ext uri="{FF2B5EF4-FFF2-40B4-BE49-F238E27FC236}">
                <a16:creationId xmlns:a16="http://schemas.microsoft.com/office/drawing/2014/main" id="{3FA7DCF1-6C16-374C-8F76-507B203E3BBD}"/>
              </a:ext>
            </a:extLst>
          </p:cNvPr>
          <p:cNvPicPr>
            <a:picLocks noChangeAspect="1"/>
          </p:cNvPicPr>
          <p:nvPr/>
        </p:nvPicPr>
        <p:blipFill>
          <a:blip r:embed="rId3"/>
          <a:stretch>
            <a:fillRect/>
          </a:stretch>
        </p:blipFill>
        <p:spPr>
          <a:xfrm>
            <a:off x="9606580" y="6329398"/>
            <a:ext cx="2358689" cy="113868"/>
          </a:xfrm>
          <a:prstGeom prst="rect">
            <a:avLst/>
          </a:prstGeom>
        </p:spPr>
      </p:pic>
      <p:pic>
        <p:nvPicPr>
          <p:cNvPr id="14" name="Picture 13">
            <a:extLst>
              <a:ext uri="{FF2B5EF4-FFF2-40B4-BE49-F238E27FC236}">
                <a16:creationId xmlns:a16="http://schemas.microsoft.com/office/drawing/2014/main" id="{6F2A6CD8-29EB-AC48-A197-87E92D2FF2CD}"/>
              </a:ext>
            </a:extLst>
          </p:cNvPr>
          <p:cNvPicPr>
            <a:picLocks noChangeAspect="1"/>
          </p:cNvPicPr>
          <p:nvPr/>
        </p:nvPicPr>
        <p:blipFill>
          <a:blip r:embed="rId4"/>
          <a:stretch>
            <a:fillRect/>
          </a:stretch>
        </p:blipFill>
        <p:spPr>
          <a:xfrm>
            <a:off x="231962" y="6016749"/>
            <a:ext cx="1599045" cy="685305"/>
          </a:xfrm>
          <a:prstGeom prst="rect">
            <a:avLst/>
          </a:prstGeom>
        </p:spPr>
      </p:pic>
      <p:sp>
        <p:nvSpPr>
          <p:cNvPr id="2" name="Slide Number Placeholder 1">
            <a:extLst>
              <a:ext uri="{FF2B5EF4-FFF2-40B4-BE49-F238E27FC236}">
                <a16:creationId xmlns:a16="http://schemas.microsoft.com/office/drawing/2014/main" id="{8A320F0C-3D09-44B1-A6D4-37BE17747D6D}"/>
              </a:ext>
            </a:extLst>
          </p:cNvPr>
          <p:cNvSpPr>
            <a:spLocks noGrp="1"/>
          </p:cNvSpPr>
          <p:nvPr>
            <p:ph type="sldNum" sz="quarter" idx="12"/>
          </p:nvPr>
        </p:nvSpPr>
        <p:spPr/>
        <p:txBody>
          <a:bodyPr/>
          <a:lstStyle/>
          <a:p>
            <a:fld id="{F860F34E-4A79-A240-AEA8-3E29BB228B1B}" type="slidenum">
              <a:rPr lang="en-US" smtClean="0"/>
              <a:t>17</a:t>
            </a:fld>
            <a:endParaRPr lang="en-US"/>
          </a:p>
        </p:txBody>
      </p:sp>
      <p:sp>
        <p:nvSpPr>
          <p:cNvPr id="15" name="Title 1">
            <a:extLst>
              <a:ext uri="{FF2B5EF4-FFF2-40B4-BE49-F238E27FC236}">
                <a16:creationId xmlns:a16="http://schemas.microsoft.com/office/drawing/2014/main" id="{83A07544-8A84-4A57-8CC5-729BD65230BD}"/>
              </a:ext>
            </a:extLst>
          </p:cNvPr>
          <p:cNvSpPr>
            <a:spLocks noGrp="1"/>
          </p:cNvSpPr>
          <p:nvPr>
            <p:ph type="title"/>
          </p:nvPr>
        </p:nvSpPr>
        <p:spPr>
          <a:xfrm>
            <a:off x="801789" y="365125"/>
            <a:ext cx="10677965" cy="754769"/>
          </a:xfrm>
        </p:spPr>
        <p:txBody>
          <a:bodyPr>
            <a:normAutofit/>
          </a:bodyPr>
          <a:lstStyle/>
          <a:p>
            <a:r>
              <a:rPr lang="en-US" b="1" dirty="0">
                <a:solidFill>
                  <a:srgbClr val="079418"/>
                </a:solidFill>
                <a:latin typeface="Times New Roman"/>
                <a:cs typeface="Times New Roman"/>
              </a:rPr>
              <a:t>Thank You</a:t>
            </a:r>
            <a:endParaRPr lang="en-US" dirty="0">
              <a:latin typeface="Times New Roman"/>
              <a:cs typeface="Times New Roman"/>
            </a:endParaRPr>
          </a:p>
        </p:txBody>
      </p:sp>
    </p:spTree>
    <p:extLst>
      <p:ext uri="{BB962C8B-B14F-4D97-AF65-F5344CB8AC3E}">
        <p14:creationId xmlns:p14="http://schemas.microsoft.com/office/powerpoint/2010/main" val="2633207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7f4b8a2-ad4f-41b5-9a91-284d2cc38f56}" enabled="1" method="Standard" siteId="{70de1992-07c6-480f-a318-a1afcba03983}" removed="0"/>
</clbl:labelList>
</file>

<file path=docProps/app.xml><?xml version="1.0" encoding="utf-8"?>
<Properties xmlns="http://schemas.openxmlformats.org/officeDocument/2006/extended-properties" xmlns:vt="http://schemas.openxmlformats.org/officeDocument/2006/docPropsVTypes">
  <TotalTime>36</TotalTime>
  <Words>1221</Words>
  <Application>Microsoft Office PowerPoint</Application>
  <PresentationFormat>Widescreen</PresentationFormat>
  <Paragraphs>140</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PowerPoint Presentation</vt:lpstr>
      <vt:lpstr>PowerPoint Presentation</vt:lpstr>
      <vt:lpstr>Agenda</vt:lpstr>
      <vt:lpstr>Motivation </vt:lpstr>
      <vt:lpstr>Background</vt:lpstr>
      <vt:lpstr>Problem Statement</vt:lpstr>
      <vt:lpstr>Literature review</vt:lpstr>
      <vt:lpstr>Objectives of the study   </vt:lpstr>
      <vt:lpstr>Dataset and Data-Preprocessing</vt:lpstr>
      <vt:lpstr>Research design </vt:lpstr>
      <vt:lpstr>Data Analysis and Model Description</vt:lpstr>
      <vt:lpstr>Data Analysis and Model Description</vt:lpstr>
      <vt:lpstr>Data Visualization and Results</vt:lpstr>
      <vt:lpstr>Data Visualization and Results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Davis, Clayton</dc:creator>
  <cp:lastModifiedBy>Aiswarya Goriparthi</cp:lastModifiedBy>
  <cp:revision>88</cp:revision>
  <cp:lastPrinted>2019-08-23T20:44:22Z</cp:lastPrinted>
  <dcterms:created xsi:type="dcterms:W3CDTF">2019-07-08T18:39:15Z</dcterms:created>
  <dcterms:modified xsi:type="dcterms:W3CDTF">2025-04-22T04:50:42Z</dcterms:modified>
</cp:coreProperties>
</file>